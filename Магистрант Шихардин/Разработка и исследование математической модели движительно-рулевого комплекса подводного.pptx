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75" r:id="rId11"/>
    <p:sldId id="266" r:id="rId12"/>
    <p:sldId id="268" r:id="rId13"/>
    <p:sldId id="267" r:id="rId14"/>
    <p:sldId id="269" r:id="rId15"/>
    <p:sldId id="270" r:id="rId16"/>
    <p:sldId id="276" r:id="rId17"/>
    <p:sldId id="273" r:id="rId18"/>
    <p:sldId id="277" r:id="rId19"/>
    <p:sldId id="274" r:id="rId20"/>
    <p:sldId id="278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294" y="-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e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10" Type="http://schemas.openxmlformats.org/officeDocument/2006/relationships/image" Target="../media/image16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0"/>
          <p:cNvSpPr>
            <a:spLocks noGrp="1"/>
          </p:cNvSpPr>
          <p:nvPr>
            <p:ph type="ctrTitle"/>
          </p:nvPr>
        </p:nvSpPr>
        <p:spPr>
          <a:xfrm>
            <a:off x="685800" y="990601"/>
            <a:ext cx="7772400" cy="2609850"/>
          </a:xfrm>
        </p:spPr>
        <p:txBody>
          <a:bodyPr anchor="b" anchorCtr="0">
            <a:noAutofit/>
            <a:scene3d>
              <a:camera prst="orthographicFront"/>
              <a:lightRig rig="soft" dir="t">
                <a:rot lat="0" lon="0" rev="2100000"/>
              </a:lightRig>
            </a:scene3d>
            <a:sp3d prstMaterial="matte">
              <a:bevelT w="38100" h="38100"/>
              <a:contourClr>
                <a:srgbClr val="FFFFFF"/>
              </a:contourClr>
            </a:sp3d>
          </a:bodyPr>
          <a:lstStyle>
            <a:lvl1pPr algn="ctr">
              <a:defRPr lang="en-US" sz="5800" dirty="0" smtClean="0">
                <a:ln w="9525">
                  <a:noFill/>
                </a:ln>
                <a:effectLst>
                  <a:outerShdw blurRad="50800" dist="38100" dir="822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6400800" cy="1967089"/>
          </a:xfrm>
        </p:spPr>
        <p:txBody>
          <a:bodyPr>
            <a:normAutofit/>
          </a:bodyPr>
          <a:lstStyle>
            <a:lvl1pPr marL="0" indent="0" algn="ctr">
              <a:buNone/>
              <a:defRPr lang="en-US" sz="3000" b="0">
                <a:solidFill>
                  <a:schemeClr val="tx2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18" name="Rectangl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lang="en-US" smtClean="0"/>
            </a:lvl1pPr>
          </a:lstStyle>
          <a:p>
            <a:fld id="{70B0505D-63E0-4334-9C4B-BC6B26F1A2C3}" type="datetimeFigureOut">
              <a:rPr lang="ru-RU" smtClean="0"/>
              <a:pPr/>
              <a:t>20.06.2012</a:t>
            </a:fld>
            <a:endParaRPr lang="ru-RU"/>
          </a:p>
        </p:txBody>
      </p:sp>
      <p:sp>
        <p:nvSpPr>
          <p:cNvPr id="9" name="Rectangle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lang="en-US" smtClean="0"/>
            </a:lvl1pPr>
          </a:lstStyle>
          <a:p>
            <a:fld id="{D6FFF935-51BA-4BC8-951D-F75BA73D8E0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5" name="Rectangle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lang="en-US" smtClean="0"/>
            </a:lvl1pPr>
          </a:lstStyle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0505D-63E0-4334-9C4B-BC6B26F1A2C3}" type="datetimeFigureOut">
              <a:rPr lang="ru-RU" smtClean="0"/>
              <a:pPr/>
              <a:t>20.06.2012</a:t>
            </a:fld>
            <a:endParaRPr lang="ru-RU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F935-51BA-4BC8-951D-F75BA73D8E0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722313" y="2685391"/>
            <a:ext cx="7772400" cy="3112843"/>
          </a:xfrm>
        </p:spPr>
        <p:txBody>
          <a:bodyPr anchor="t">
            <a:normAutofit/>
          </a:bodyPr>
          <a:lstStyle>
            <a:lvl1pPr algn="ctr">
              <a:buNone/>
              <a:defRPr lang="en-US" sz="6000" b="1" dirty="0">
                <a:solidFill>
                  <a:schemeClr val="tx2">
                    <a:shade val="85000"/>
                    <a:satMod val="150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>
          <a:xfrm>
            <a:off x="722313" y="1128932"/>
            <a:ext cx="7772400" cy="1509712"/>
          </a:xfrm>
        </p:spPr>
        <p:txBody>
          <a:bodyPr anchor="b">
            <a:normAutofit/>
          </a:bodyPr>
          <a:lstStyle>
            <a:lvl1pPr algn="ctr">
              <a:buNone/>
              <a:defRPr lang="en-US" sz="2400" b="0" smtClean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0505D-63E0-4334-9C4B-BC6B26F1A2C3}" type="datetimeFigureOut">
              <a:rPr lang="ru-RU" smtClean="0"/>
              <a:pPr/>
              <a:t>20.06.2012</a:t>
            </a:fld>
            <a:endParaRPr lang="ru-RU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F935-51BA-4BC8-951D-F75BA73D8E0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Rectangl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0505D-63E0-4334-9C4B-BC6B26F1A2C3}" type="datetimeFigureOut">
              <a:rPr lang="ru-RU" smtClean="0"/>
              <a:pPr/>
              <a:t>20.06.2012</a:t>
            </a:fld>
            <a:endParaRPr lang="ru-RU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F935-51BA-4BC8-951D-F75BA73D8E0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 algn="l">
              <a:buNone/>
              <a:defRPr sz="22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 algn="l">
              <a:buNone/>
              <a:defRPr sz="22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Rectangl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Rectangl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0505D-63E0-4334-9C4B-BC6B26F1A2C3}" type="datetimeFigureOut">
              <a:rPr lang="ru-RU" smtClean="0"/>
              <a:pPr/>
              <a:t>20.06.2012</a:t>
            </a:fld>
            <a:endParaRPr lang="ru-RU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F935-51BA-4BC8-951D-F75BA73D8E0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0505D-63E0-4334-9C4B-BC6B26F1A2C3}" type="datetimeFigureOut">
              <a:rPr lang="ru-RU" smtClean="0"/>
              <a:pPr/>
              <a:t>20.06.2012</a:t>
            </a:fld>
            <a:endParaRPr lang="ru-RU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F935-51BA-4BC8-951D-F75BA73D8E0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0505D-63E0-4334-9C4B-BC6B26F1A2C3}" type="datetimeFigureOut">
              <a:rPr lang="ru-RU" smtClean="0"/>
              <a:pPr/>
              <a:t>20.06.2012</a:t>
            </a:fld>
            <a:endParaRPr lang="ru-RU"/>
          </a:p>
        </p:txBody>
      </p:sp>
      <p:sp>
        <p:nvSpPr>
          <p:cNvPr id="3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F935-51BA-4BC8-951D-F75BA73D8E0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>
            <a:lvl1pPr algn="ctr">
              <a:defRPr sz="2400" b="1">
                <a:solidFill>
                  <a:schemeClr val="tx2"/>
                </a:solidFill>
                <a:effectLst>
                  <a:outerShdw blurRad="38100" dist="25400" dir="8220000" algn="tr" rotWithShape="0">
                    <a:prstClr val="black">
                      <a:alpha val="3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0505D-63E0-4334-9C4B-BC6B26F1A2C3}" type="datetimeFigureOut">
              <a:rPr lang="ru-RU" smtClean="0"/>
              <a:pPr/>
              <a:t>20.06.2012</a:t>
            </a:fld>
            <a:endParaRPr lang="ru-RU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F935-51BA-4BC8-951D-F75BA73D8E0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27729" y="1062637"/>
            <a:ext cx="4599432" cy="3977640"/>
          </a:xfrm>
          <a:prstGeom prst="rect">
            <a:avLst/>
          </a:prstGeom>
          <a:solidFill>
            <a:schemeClr val="tx2">
              <a:shade val="15000"/>
            </a:schemeClr>
          </a:solidFill>
          <a:ln w="63500">
            <a:noFill/>
            <a:miter lim="800000"/>
          </a:ln>
          <a:effectLst>
            <a:outerShdw blurRad="63500" dist="25400" dir="7200000" algn="t" rotWithShape="0">
              <a:prstClr val="black">
                <a:alpha val="45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45720" rIns="45720" rtlCol="0" anchor="ctr">
            <a:normAutofit/>
          </a:bodyPr>
          <a:lstStyle/>
          <a:p>
            <a:pPr marL="0" indent="-274320" algn="l">
              <a:buClr>
                <a:schemeClr val="accent1"/>
              </a:buClr>
              <a:buSzPct val="80000"/>
              <a:buFont typeface="Wingdings 2" pitchFamily="18" charset="2"/>
              <a:buNone/>
            </a:pPr>
            <a:endParaRPr lang="en-US" sz="20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5514536" y="4343400"/>
            <a:ext cx="3048000" cy="709858"/>
          </a:xfrm>
        </p:spPr>
        <p:txBody>
          <a:bodyPr anchor="t">
            <a:noAutofit/>
          </a:bodyPr>
          <a:lstStyle>
            <a:lvl1pPr algn="l">
              <a:buNone/>
              <a:defRPr sz="2200" b="1">
                <a:solidFill>
                  <a:schemeClr val="tx2"/>
                </a:solidFill>
                <a:effectLst>
                  <a:outerShdw blurRad="38100" dist="25400" dir="8220000" algn="tr" rotWithShape="0">
                    <a:prstClr val="black">
                      <a:alpha val="3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Rectangle 3"/>
          <p:cNvSpPr>
            <a:spLocks noGrp="1"/>
          </p:cNvSpPr>
          <p:nvPr>
            <p:ph type="pic" idx="1"/>
          </p:nvPr>
        </p:nvSpPr>
        <p:spPr>
          <a:xfrm>
            <a:off x="739645" y="1222657"/>
            <a:ext cx="4575601" cy="3657600"/>
          </a:xfrm>
          <a:solidFill>
            <a:schemeClr val="tx2">
              <a:shade val="75000"/>
            </a:schemeClr>
          </a:solidFill>
          <a:ln w="63500">
            <a:noFill/>
            <a:miter lim="800000"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>
            <a:lvl1pPr>
              <a:buNone/>
              <a:defRPr sz="3200"/>
            </a:lvl1pPr>
          </a:lstStyle>
          <a:p>
            <a:r>
              <a:rPr lang="ru-RU" sz="2000" smtClean="0"/>
              <a:t>Вставка рисунка</a:t>
            </a:r>
            <a:endParaRPr lang="en-US" sz="2000" dirty="0"/>
          </a:p>
        </p:txBody>
      </p:sp>
      <p:sp>
        <p:nvSpPr>
          <p:cNvPr id="4" name="Rectangle 4"/>
          <p:cNvSpPr>
            <a:spLocks noGrp="1"/>
          </p:cNvSpPr>
          <p:nvPr>
            <p:ph type="body" sz="half" idx="2"/>
          </p:nvPr>
        </p:nvSpPr>
        <p:spPr>
          <a:xfrm>
            <a:off x="5514536" y="1371600"/>
            <a:ext cx="3044952" cy="2930086"/>
          </a:xfrm>
        </p:spPr>
        <p:txBody>
          <a:bodyPr bIns="0" anchor="b">
            <a:normAutofit/>
          </a:bodyPr>
          <a:lstStyle>
            <a:lvl1pPr marL="0" marR="0" indent="0" algn="l">
              <a:buFontTx/>
              <a:buNone/>
              <a:defRPr sz="1300">
                <a:solidFill>
                  <a:schemeClr val="tx1">
                    <a:tint val="95000"/>
                  </a:schemeClr>
                </a:solidFill>
              </a:defRPr>
            </a:lvl1pPr>
            <a:lvl2pPr marL="460375" marR="0" indent="-112713">
              <a:buFontTx/>
              <a:buNone/>
              <a:defRPr sz="1200"/>
            </a:lvl2pPr>
            <a:lvl3pPr marL="914400" marR="0" indent="-117475">
              <a:buFontTx/>
              <a:buNone/>
              <a:defRPr sz="1000"/>
            </a:lvl3pPr>
            <a:lvl4pPr marL="1316038" marR="0" indent="-112713">
              <a:buFontTx/>
              <a:buNone/>
              <a:defRPr sz="900"/>
            </a:lvl4pPr>
            <a:lvl5pPr marL="1711325" marR="0" indent="-117475">
              <a:buFontTx/>
              <a:buNone/>
              <a:defRPr sz="9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0505D-63E0-4334-9C4B-BC6B26F1A2C3}" type="datetimeFigureOut">
              <a:rPr lang="ru-RU" smtClean="0"/>
              <a:pPr/>
              <a:t>20.06.2012</a:t>
            </a:fld>
            <a:endParaRPr lang="ru-RU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F935-51BA-4BC8-951D-F75BA73D8E0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0505D-63E0-4334-9C4B-BC6B26F1A2C3}" type="datetimeFigureOut">
              <a:rPr lang="ru-RU" smtClean="0"/>
              <a:pPr/>
              <a:t>20.06.2012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F935-51BA-4BC8-951D-F75BA73D8E0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0505D-63E0-4334-9C4B-BC6B26F1A2C3}" type="datetimeFigureOut">
              <a:rPr lang="ru-RU" smtClean="0"/>
              <a:pPr/>
              <a:t>20.06.2012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FF935-51BA-4BC8-951D-F75BA73D8E0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 anchor="b" anchorCtr="0">
            <a:normAutofit/>
            <a:scene3d>
              <a:camera prst="orthographicFront"/>
              <a:lightRig rig="soft" dir="t">
                <a:rot lat="0" lon="0" rev="2100000"/>
              </a:lightRig>
            </a:scene3d>
            <a:sp3d prstMaterial="matte">
              <a:bevelT w="38100" h="38100"/>
            </a:sp3d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5" name="Rectangle 11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lIns="45720" rIns="4572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27" name="Rectangle 22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anchor="b" anchorCtr="0"/>
          <a:lstStyle>
            <a:lvl1pPr>
              <a:defRPr lang="en-US" sz="1200" smtClean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</a:lstStyle>
          <a:p>
            <a:fld id="{70B0505D-63E0-4334-9C4B-BC6B26F1A2C3}" type="datetimeFigureOut">
              <a:rPr lang="ru-RU" smtClean="0"/>
              <a:pPr/>
              <a:t>20.06.2012</a:t>
            </a:fld>
            <a:endParaRPr lang="ru-RU"/>
          </a:p>
        </p:txBody>
      </p:sp>
      <p:sp>
        <p:nvSpPr>
          <p:cNvPr id="18" name="Rectangle 1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anchor="b" anchorCtr="0"/>
          <a:lstStyle>
            <a:lvl1pPr algn="ctr">
              <a:defRPr lang="en-US" sz="1200" smtClean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</a:lstStyle>
          <a:p>
            <a:endParaRPr lang="ru-RU"/>
          </a:p>
        </p:txBody>
      </p:sp>
      <p:sp>
        <p:nvSpPr>
          <p:cNvPr id="13" name="Rectangle 15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anchor="b" anchorCtr="0"/>
          <a:lstStyle>
            <a:lvl1pPr algn="r">
              <a:defRPr lang="en-US" sz="1200" smtClean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</a:lstStyle>
          <a:p>
            <a:fld id="{D6FFF935-51BA-4BC8-951D-F75BA73D8E0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defPPr>
        <a:defRPr sz="4400">
          <a:solidFill>
            <a:schemeClr val="tx2">
              <a:shade val="85000"/>
              <a:satMod val="150000"/>
            </a:schemeClr>
          </a:solidFill>
          <a:latin typeface="+mj-lt"/>
          <a:ea typeface="+mj-ea"/>
          <a:cs typeface="+mj-cs"/>
        </a:defRPr>
      </a:defPPr>
      <a:lvl1pPr algn="ctr" eaLnBrk="1" hangingPunct="1">
        <a:buNone/>
        <a:defRPr lang="en-US" sz="4800" b="1" strike="noStrike" kern="1200" baseline="0" dirty="0" smtClean="0">
          <a:solidFill>
            <a:schemeClr val="tx2">
              <a:shade val="85000"/>
              <a:satMod val="150000"/>
            </a:schemeClr>
          </a:solidFill>
          <a:effectLst>
            <a:outerShdw blurRad="63500" dist="38100" dir="8220000" algn="tl" rotWithShape="0">
              <a:srgbClr val="000000">
                <a:alpha val="30000"/>
              </a:srgbClr>
            </a:outerShdw>
          </a:effectLst>
          <a:latin typeface="+mj-lt"/>
          <a:ea typeface="+mj-lt"/>
          <a:cs typeface="+mj-lt"/>
        </a:defRPr>
      </a:lvl1pPr>
    </p:titleStyle>
    <p:bodyStyle>
      <a:defPPr>
        <a:defRPr>
          <a:solidFill>
            <a:schemeClr val="tx1"/>
          </a:solidFill>
          <a:latin typeface="+mn-lt"/>
          <a:ea typeface="+mn-ea"/>
          <a:cs typeface="+mn-cs"/>
        </a:defRPr>
      </a:defPPr>
      <a:lvl1pPr marL="0" indent="-274320" algn="l" eaLnBrk="1" hangingPunct="1">
        <a:buClr>
          <a:schemeClr val="accent1"/>
        </a:buClr>
        <a:buSzPct val="80000"/>
        <a:buFont typeface="Wingdings 2" pitchFamily="18" charset="2"/>
        <a:buChar char="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557784" indent="-228600" algn="l" eaLnBrk="1" hangingPunct="1">
        <a:buClr>
          <a:schemeClr val="tx2"/>
        </a:buClr>
        <a:buFont typeface="Wingdings 2" pitchFamily="18" charset="2"/>
        <a:buChar char=""/>
        <a:defRPr sz="2200">
          <a:solidFill>
            <a:schemeClr val="tx1"/>
          </a:solidFill>
          <a:latin typeface="+mn-lt"/>
          <a:ea typeface="+mn-lt"/>
          <a:cs typeface="+mn-lt"/>
        </a:defRPr>
      </a:lvl2pPr>
      <a:lvl3pPr marL="813816" indent="-228600" algn="l" eaLnBrk="1" hangingPunct="1">
        <a:buClr>
          <a:schemeClr val="accent1"/>
        </a:buClr>
        <a:buFont typeface="Wingdings 2" pitchFamily="18" charset="2"/>
        <a:buChar char="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069848" indent="-228600" algn="l" eaLnBrk="1" hangingPunct="1">
        <a:buClr>
          <a:schemeClr val="tx2"/>
        </a:buClr>
        <a:buFont typeface="Wingdings 2" pitchFamily="18" charset="2"/>
        <a:buChar char="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316736" indent="-228600" algn="l" eaLnBrk="1" hangingPunct="1">
        <a:buClr>
          <a:schemeClr val="accent1"/>
        </a:buClr>
        <a:buFont typeface="Wingdings 2" pitchFamily="18" charset="2"/>
        <a:buChar char="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1572768" indent="-228600" algn="l" eaLnBrk="1" hangingPunct="1">
        <a:buClr>
          <a:schemeClr val="tx2"/>
        </a:buClr>
        <a:buFont typeface="Wingdings 2" pitchFamily="18" charset="2"/>
        <a:buChar char=""/>
        <a:defRPr lang="en-US" sz="1600" baseline="0" smtClean="0">
          <a:latin typeface="+mn-lt"/>
        </a:defRPr>
      </a:lvl6pPr>
      <a:lvl7pPr marL="1819656" indent="-228600" algn="l" eaLnBrk="1" hangingPunct="1">
        <a:buClr>
          <a:schemeClr val="accent1"/>
        </a:buClr>
        <a:buFont typeface="Wingdings 2" pitchFamily="18" charset="2"/>
        <a:buChar char=""/>
        <a:defRPr lang="en-US" sz="1600" baseline="0" smtClean="0">
          <a:latin typeface="+mn-lt"/>
        </a:defRPr>
      </a:lvl7pPr>
      <a:lvl8pPr marL="2066544" indent="-228600" algn="l" eaLnBrk="1" hangingPunct="1">
        <a:buClr>
          <a:schemeClr val="tx2"/>
        </a:buClr>
        <a:buFont typeface="Wingdings 2" pitchFamily="18" charset="2"/>
        <a:buChar char=""/>
        <a:defRPr sz="1600" baseline="0">
          <a:latin typeface="+mn-lt"/>
        </a:defRPr>
      </a:lvl8pPr>
      <a:lvl9pPr marL="2313432" indent="-228600" algn="l" eaLnBrk="1" hangingPunct="1">
        <a:buClr>
          <a:schemeClr val="accent1"/>
        </a:buClr>
        <a:buFont typeface="Wingdings 2" pitchFamily="18" charset="2"/>
        <a:buChar char=""/>
        <a:defRPr sz="1400" baseline="0">
          <a:latin typeface="+mn-lt"/>
        </a:defRPr>
      </a:lvl9pPr>
    </p:bodyStyle>
    <p:otherStyle>
      <a:defPPr>
        <a:defRPr>
          <a:solidFill>
            <a:schemeClr val="tx1"/>
          </a:solidFill>
          <a:latin typeface="+mn-lt"/>
          <a:ea typeface="+mn-ea"/>
          <a:cs typeface="+mn-cs"/>
        </a:defRPr>
      </a:defPPr>
      <a:lvl1pPr marL="0" eaLnBrk="1" hangingPunct="1"/>
      <a:lvl2pPr marL="457200" eaLnBrk="1" hangingPunct="1"/>
      <a:lvl3pPr marL="914400" eaLnBrk="1" hangingPunct="1"/>
      <a:lvl4pPr marL="1371600" eaLnBrk="1" hangingPunct="1"/>
      <a:lvl5pPr marL="1828800" eaLnBrk="1" hangingPunct="1"/>
      <a:lvl6pPr marL="2286000" eaLnBrk="1" hangingPunct="1"/>
      <a:lvl7pPr marL="2743200" eaLnBrk="1" hangingPunct="1"/>
      <a:lvl8pPr marL="3200400" eaLnBrk="1" hangingPunct="1"/>
      <a:lvl9pPr marL="3657600" eaLnBrk="1" hangingPunct="1"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6.bin"/><Relationship Id="rId12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4.bin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600" dirty="0" smtClean="0"/>
              <a:t>Разработка и исследование математической модели движительно-рулевого комплекса подводного аппарата</a:t>
            </a: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4000504"/>
            <a:ext cx="6400800" cy="2000264"/>
          </a:xfrm>
        </p:spPr>
        <p:txBody>
          <a:bodyPr>
            <a:normAutofit fontScale="70000" lnSpcReduction="20000"/>
          </a:bodyPr>
          <a:lstStyle/>
          <a:p>
            <a:r>
              <a:rPr lang="ru-RU" sz="3200" dirty="0" smtClean="0">
                <a:latin typeface="Times New Roman" pitchFamily="18" charset="0"/>
              </a:rPr>
              <a:t>Выполнил: студент группы М-8240 </a:t>
            </a:r>
            <a:r>
              <a:rPr lang="ru-RU" sz="3200" dirty="0" err="1" smtClean="0">
                <a:latin typeface="Times New Roman" pitchFamily="18" charset="0"/>
              </a:rPr>
              <a:t>Шихардин</a:t>
            </a:r>
            <a:r>
              <a:rPr lang="ru-RU" sz="3200" dirty="0" smtClean="0">
                <a:latin typeface="Times New Roman" pitchFamily="18" charset="0"/>
              </a:rPr>
              <a:t> Е.В.</a:t>
            </a:r>
          </a:p>
          <a:p>
            <a:r>
              <a:rPr lang="ru-RU" sz="3200" dirty="0" smtClean="0">
                <a:latin typeface="Times New Roman" pitchFamily="18" charset="0"/>
              </a:rPr>
              <a:t>Руководитель: </a:t>
            </a:r>
            <a:r>
              <a:rPr lang="ru-RU" sz="3200" dirty="0" err="1" smtClean="0">
                <a:latin typeface="Times New Roman" pitchFamily="18" charset="0"/>
              </a:rPr>
              <a:t>зав.лаб</a:t>
            </a:r>
            <a:r>
              <a:rPr lang="ru-RU" sz="3200" dirty="0" smtClean="0">
                <a:latin typeface="Times New Roman" pitchFamily="18" charset="0"/>
              </a:rPr>
              <a:t> ИПМТ ДВО РАН, к.т.н. Костенко В.В.</a:t>
            </a:r>
          </a:p>
          <a:p>
            <a:r>
              <a:rPr lang="ru-RU" sz="3200" i="1" dirty="0" smtClean="0">
                <a:latin typeface="Times New Roman" pitchFamily="18" charset="0"/>
              </a:rPr>
              <a:t>Дальневосточный федеральный университет</a:t>
            </a:r>
          </a:p>
          <a:p>
            <a:r>
              <a:rPr lang="ru-RU" sz="3200" i="1" dirty="0" smtClean="0">
                <a:latin typeface="Times New Roman" pitchFamily="18" charset="0"/>
              </a:rPr>
              <a:t>Кафедра компьютерных систем</a:t>
            </a:r>
          </a:p>
          <a:p>
            <a:r>
              <a:rPr lang="ru-RU" sz="3200" i="1" dirty="0" smtClean="0">
                <a:latin typeface="Times New Roman" pitchFamily="18" charset="0"/>
              </a:rPr>
              <a:t> г. Владивосток, 2012 г.</a:t>
            </a:r>
            <a:endParaRPr lang="ru-RU" i="1" dirty="0" smtClean="0">
              <a:latin typeface="Tahoma" pitchFamily="34" charset="0"/>
            </a:endParaRP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480994"/>
          </a:xfrm>
        </p:spPr>
        <p:txBody>
          <a:bodyPr>
            <a:noAutofit/>
          </a:bodyPr>
          <a:lstStyle/>
          <a:p>
            <a:r>
              <a:rPr lang="ru-RU" sz="3200" dirty="0" smtClean="0"/>
              <a:t>Задачи исследования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 fontScale="92500" lnSpcReduction="10000"/>
          </a:bodyPr>
          <a:lstStyle/>
          <a:p>
            <a:pPr algn="just">
              <a:buBlip>
                <a:blip r:embed="rId2"/>
              </a:buBlip>
            </a:pPr>
            <a:r>
              <a:rPr lang="ru-RU" dirty="0" smtClean="0"/>
              <a:t>Разработка математической модели вентильного ЭП и уточнение её параметров по результатам нагрузочных испытаний электродвигателя 4ДБМ70-1,1-1,3-3.</a:t>
            </a:r>
          </a:p>
          <a:p>
            <a:pPr algn="just">
              <a:buBlip>
                <a:blip r:embed="rId2"/>
              </a:buBlip>
            </a:pPr>
            <a:r>
              <a:rPr lang="ru-RU" dirty="0" smtClean="0"/>
              <a:t>Разработка математической модели гребного винта с уточнением ее параметров по результатам швартовых испытаний ГВ ТНПА «</a:t>
            </a:r>
            <a:r>
              <a:rPr lang="en-US" dirty="0" smtClean="0"/>
              <a:t>Falcon</a:t>
            </a:r>
            <a:r>
              <a:rPr lang="ru-RU" dirty="0" smtClean="0"/>
              <a:t>».</a:t>
            </a:r>
          </a:p>
          <a:p>
            <a:pPr algn="just">
              <a:buBlip>
                <a:blip r:embed="rId2"/>
              </a:buBlip>
            </a:pPr>
            <a:r>
              <a:rPr lang="ru-RU" dirty="0" smtClean="0"/>
              <a:t>Разработка и исследование математической модели движительно-рулевого комплекса ПА, учитывающей особенности работы движителей в «косом» потоке.</a:t>
            </a:r>
          </a:p>
          <a:p>
            <a:pPr algn="just">
              <a:buBlip>
                <a:blip r:embed="rId2"/>
              </a:buBlip>
            </a:pPr>
            <a:r>
              <a:rPr lang="ru-RU" dirty="0" smtClean="0"/>
              <a:t>Моделирование динамики движителей по результатам стендовых испытаний электродвигателя 4ДБМ70-1,1-1,3-3.</a:t>
            </a:r>
          </a:p>
          <a:p>
            <a:pPr>
              <a:buBlip>
                <a:blip r:embed="rId2"/>
              </a:buBlip>
            </a:pP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480994"/>
          </a:xfrm>
        </p:spPr>
        <p:txBody>
          <a:bodyPr>
            <a:noAutofit/>
          </a:bodyPr>
          <a:lstStyle/>
          <a:p>
            <a:r>
              <a:rPr lang="ru-RU" sz="3200" dirty="0" err="1"/>
              <a:t>Бесколлекторный</a:t>
            </a:r>
            <a:r>
              <a:rPr lang="ru-RU" sz="3200" dirty="0"/>
              <a:t> двигатель постоянного тока</a:t>
            </a:r>
          </a:p>
        </p:txBody>
      </p:sp>
      <p:pic>
        <p:nvPicPr>
          <p:cNvPr id="4" name="Picture 2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0113" y="3573463"/>
            <a:ext cx="2808287" cy="191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Object 27"/>
          <p:cNvGraphicFramePr>
            <a:graphicFrameLocks noChangeAspect="1"/>
          </p:cNvGraphicFramePr>
          <p:nvPr/>
        </p:nvGraphicFramePr>
        <p:xfrm>
          <a:off x="1187450" y="5949950"/>
          <a:ext cx="2376488" cy="393700"/>
        </p:xfrm>
        <a:graphic>
          <a:graphicData uri="http://schemas.openxmlformats.org/presentationml/2006/ole">
            <p:oleObj spid="_x0000_s1026" name="Формула" r:id="rId4" imgW="1435100" imgH="241300" progId="Equation.3">
              <p:embed/>
            </p:oleObj>
          </a:graphicData>
        </a:graphic>
      </p:graphicFrame>
      <p:sp>
        <p:nvSpPr>
          <p:cNvPr id="6" name="Text Box 28"/>
          <p:cNvSpPr txBox="1">
            <a:spLocks noChangeArrowheads="1"/>
          </p:cNvSpPr>
          <p:nvPr/>
        </p:nvSpPr>
        <p:spPr bwMode="auto">
          <a:xfrm>
            <a:off x="755650" y="2565400"/>
            <a:ext cx="3313113" cy="3365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600">
                <a:solidFill>
                  <a:schemeClr val="tx2"/>
                </a:solidFill>
                <a:latin typeface="Tahoma" pitchFamily="34" charset="0"/>
              </a:rPr>
              <a:t>Структурная схема ВЭПТ</a:t>
            </a:r>
          </a:p>
        </p:txBody>
      </p:sp>
      <p:pic>
        <p:nvPicPr>
          <p:cNvPr id="7" name="Picture 3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84213" y="1052513"/>
            <a:ext cx="3384550" cy="147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35"/>
          <p:cNvSpPr txBox="1">
            <a:spLocks noChangeArrowheads="1"/>
          </p:cNvSpPr>
          <p:nvPr/>
        </p:nvSpPr>
        <p:spPr bwMode="auto">
          <a:xfrm>
            <a:off x="4643438" y="1214422"/>
            <a:ext cx="4162425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ru-RU" dirty="0"/>
              <a:t>ДПР – датчик положения ротора,</a:t>
            </a:r>
          </a:p>
          <a:p>
            <a:r>
              <a:rPr lang="ru-RU" dirty="0"/>
              <a:t>ДБМ – двигатель большого момента,</a:t>
            </a:r>
          </a:p>
          <a:p>
            <a:r>
              <a:rPr lang="ru-RU" dirty="0"/>
              <a:t>УУ- управляющее устройство,</a:t>
            </a:r>
          </a:p>
          <a:p>
            <a:r>
              <a:rPr lang="ru-RU" dirty="0"/>
              <a:t>УМ – усилитель мощности,</a:t>
            </a:r>
          </a:p>
          <a:p>
            <a:r>
              <a:rPr lang="ru-RU" dirty="0"/>
              <a:t>БП – блок питания.</a:t>
            </a:r>
          </a:p>
        </p:txBody>
      </p:sp>
      <p:pic>
        <p:nvPicPr>
          <p:cNvPr id="17" name="Picture 5" descr="Ротор статор сборка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00562" y="3714752"/>
            <a:ext cx="4124325" cy="2509837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4500562" y="3429000"/>
            <a:ext cx="4105275" cy="2127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ru-RU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Электропривод на базе 4ДБМ70-1.1-1.3-3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480994"/>
          </a:xfrm>
        </p:spPr>
        <p:txBody>
          <a:bodyPr>
            <a:noAutofit/>
          </a:bodyPr>
          <a:lstStyle/>
          <a:p>
            <a:r>
              <a:rPr lang="ru-RU" sz="3200" dirty="0"/>
              <a:t>Основные особенности БДПТ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90000"/>
              </a:lnSpc>
              <a:spcBef>
                <a:spcPct val="25000"/>
              </a:spcBef>
              <a:spcAft>
                <a:spcPct val="25000"/>
              </a:spcAft>
              <a:buFont typeface="Wingdings" pitchFamily="2" charset="2"/>
              <a:buBlip>
                <a:blip r:embed="rId2"/>
              </a:buBlip>
            </a:pPr>
            <a:r>
              <a:rPr lang="ru-RU" dirty="0" smtClean="0"/>
              <a:t>Значительные перегрузочные возможности электродвигателя за счёт отсутствия щеточно-коллекторного узла и улучшенного </a:t>
            </a:r>
            <a:r>
              <a:rPr lang="ru-RU" dirty="0" err="1" smtClean="0"/>
              <a:t>теплоотвода</a:t>
            </a:r>
            <a:r>
              <a:rPr lang="ru-RU" dirty="0" smtClean="0"/>
              <a:t>.</a:t>
            </a:r>
          </a:p>
          <a:p>
            <a:pPr algn="just">
              <a:lnSpc>
                <a:spcPct val="90000"/>
              </a:lnSpc>
              <a:spcBef>
                <a:spcPct val="25000"/>
              </a:spcBef>
              <a:spcAft>
                <a:spcPct val="25000"/>
              </a:spcAft>
              <a:buFont typeface="Wingdings" pitchFamily="2" charset="2"/>
              <a:buBlip>
                <a:blip r:embed="rId2"/>
              </a:buBlip>
            </a:pPr>
            <a:r>
              <a:rPr lang="ru-RU" dirty="0" smtClean="0"/>
              <a:t>Способность работать в особо тяжелых условиях эксплуатации со сроком службы не менее 10 тыс.ч. </a:t>
            </a:r>
          </a:p>
          <a:p>
            <a:pPr algn="just">
              <a:lnSpc>
                <a:spcPct val="90000"/>
              </a:lnSpc>
              <a:spcBef>
                <a:spcPct val="25000"/>
              </a:spcBef>
              <a:spcAft>
                <a:spcPct val="25000"/>
              </a:spcAft>
              <a:buFont typeface="Wingdings" pitchFamily="2" charset="2"/>
              <a:buBlip>
                <a:blip r:embed="rId2"/>
              </a:buBlip>
            </a:pPr>
            <a:r>
              <a:rPr lang="ru-RU" dirty="0" smtClean="0"/>
              <a:t>Возможность построения высококачественных систем управления с широким диапазоном и малыми постоянными регулирования, быстродействием и точностью.</a:t>
            </a:r>
          </a:p>
          <a:p>
            <a:pPr algn="just">
              <a:lnSpc>
                <a:spcPct val="90000"/>
              </a:lnSpc>
              <a:spcBef>
                <a:spcPct val="25000"/>
              </a:spcBef>
              <a:spcAft>
                <a:spcPct val="25000"/>
              </a:spcAft>
              <a:buFont typeface="Wingdings" pitchFamily="2" charset="2"/>
              <a:buBlip>
                <a:blip r:embed="rId2"/>
              </a:buBlip>
            </a:pPr>
            <a:r>
              <a:rPr lang="ru-RU" dirty="0" smtClean="0"/>
              <a:t>Наилучшее соотношение габариты/мощность. </a:t>
            </a:r>
          </a:p>
          <a:p>
            <a:pPr algn="just">
              <a:lnSpc>
                <a:spcPct val="90000"/>
              </a:lnSpc>
              <a:spcBef>
                <a:spcPct val="25000"/>
              </a:spcBef>
              <a:spcAft>
                <a:spcPct val="25000"/>
              </a:spcAft>
              <a:buFont typeface="Wingdings" pitchFamily="2" charset="2"/>
              <a:buBlip>
                <a:blip r:embed="rId2"/>
              </a:buBlip>
            </a:pPr>
            <a:r>
              <a:rPr lang="ru-RU" dirty="0" smtClean="0"/>
              <a:t>Удобство встраиваемости и герметизации.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81060"/>
          </a:xfrm>
        </p:spPr>
        <p:txBody>
          <a:bodyPr>
            <a:noAutofit/>
          </a:bodyPr>
          <a:lstStyle/>
          <a:p>
            <a:r>
              <a:rPr lang="ru-RU" sz="3200" dirty="0"/>
              <a:t>Функциональная схема </a:t>
            </a:r>
            <a:r>
              <a:rPr lang="ru-RU" sz="3200" dirty="0" err="1"/>
              <a:t>бесколлекторного</a:t>
            </a:r>
            <a:r>
              <a:rPr lang="ru-RU" sz="3200" dirty="0"/>
              <a:t> электродвигателя постоянного тока</a:t>
            </a:r>
            <a:r>
              <a:rPr lang="ru-RU" sz="3200" dirty="0" smtClean="0"/>
              <a:t> </a:t>
            </a:r>
            <a:endParaRPr lang="ru-RU" sz="3200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ph sz="half" idx="1"/>
          </p:nvPr>
        </p:nvGraphicFramePr>
        <p:xfrm>
          <a:off x="0" y="1285860"/>
          <a:ext cx="6222353" cy="2500330"/>
        </p:xfrm>
        <a:graphic>
          <a:graphicData uri="http://schemas.openxmlformats.org/presentationml/2006/ole">
            <p:oleObj spid="_x0000_s3074" name="Visio" r:id="rId3" imgW="3883558" imgH="1560251" progId="">
              <p:embed/>
            </p:oleObj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6643702" y="2643182"/>
          <a:ext cx="1881187" cy="1177925"/>
        </p:xfrm>
        <a:graphic>
          <a:graphicData uri="http://schemas.openxmlformats.org/presentationml/2006/ole">
            <p:oleObj spid="_x0000_s3075" name="Формула" r:id="rId4" imgW="1422360" imgH="888840" progId="Equation.3">
              <p:embed/>
            </p:oleObj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6715140" y="4000504"/>
          <a:ext cx="2122488" cy="1157288"/>
        </p:xfrm>
        <a:graphic>
          <a:graphicData uri="http://schemas.openxmlformats.org/presentationml/2006/ole">
            <p:oleObj spid="_x0000_s3076" name="Формула" r:id="rId5" imgW="1511280" imgH="901440" progId="Equation.3">
              <p:embed/>
            </p:oleObj>
          </a:graphicData>
        </a:graphic>
      </p:graphicFrame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6500826" y="1500174"/>
            <a:ext cx="2064989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Параметры </a:t>
            </a:r>
          </a:p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электродвигателя 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4ДБМ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70 1,1-1,3-3:</a:t>
            </a:r>
          </a:p>
        </p:txBody>
      </p:sp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642910" y="4357694"/>
          <a:ext cx="1614486" cy="2241541"/>
        </p:xfrm>
        <a:graphic>
          <a:graphicData uri="http://schemas.openxmlformats.org/presentationml/2006/ole">
            <p:oleObj spid="_x0000_s3077" name="Формула" r:id="rId6" imgW="1384200" imgH="1815840" progId="Equation.3">
              <p:embed/>
            </p:oleObj>
          </a:graphicData>
        </a:graphic>
      </p:graphicFrame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2928926" y="4500570"/>
            <a:ext cx="2933715" cy="2017712"/>
          </a:xfrm>
          <a:prstGeom prst="rect">
            <a:avLst/>
          </a:prstGeom>
        </p:spPr>
        <p:txBody>
          <a:bodyPr lIns="45720" rIns="45720">
            <a:normAutofit fontScale="47500" lnSpcReduction="20000"/>
          </a:bodyPr>
          <a:lstStyle/>
          <a:p>
            <a:pPr marL="0" marR="0" lvl="0" indent="-27432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ru-RU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М    – </a:t>
            </a:r>
            <a:r>
              <a:rPr kumimoji="0" lang="ru-RU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электромагнитный момент,</a:t>
            </a:r>
          </a:p>
          <a:p>
            <a:pPr marL="0" marR="0" lvl="0" indent="-27432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itchFamily="18" charset="0"/>
                <a:ea typeface="+mn-lt"/>
                <a:cs typeface="+mn-lt"/>
              </a:rPr>
              <a:t>      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–</a:t>
            </a:r>
            <a:r>
              <a:rPr kumimoji="0" lang="ru-RU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 момент потерь,</a:t>
            </a:r>
          </a:p>
          <a:p>
            <a:pPr marL="0" marR="0" lvl="0" indent="-27432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ru-RU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J</a:t>
            </a:r>
            <a:r>
              <a:rPr kumimoji="0" lang="ru-RU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   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– </a:t>
            </a:r>
            <a:r>
              <a:rPr kumimoji="0" lang="ru-RU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момент инерции,</a:t>
            </a:r>
          </a:p>
          <a:p>
            <a:pPr marL="0" marR="0" lvl="0" indent="-27432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ru-RU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      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–</a:t>
            </a:r>
            <a:r>
              <a:rPr kumimoji="0" lang="ru-RU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 </a:t>
            </a:r>
            <a:r>
              <a:rPr kumimoji="0" lang="ru-RU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коэффициент момента,</a:t>
            </a:r>
          </a:p>
          <a:p>
            <a:pPr marL="0" marR="0" lvl="0" indent="-27432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      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–</a:t>
            </a:r>
            <a:r>
              <a:rPr kumimoji="0" lang="ru-RU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 </a:t>
            </a:r>
            <a:r>
              <a:rPr kumimoji="0" lang="ru-RU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сила тока якорной цепи,</a:t>
            </a:r>
          </a:p>
          <a:p>
            <a:pPr marL="0" marR="0" lvl="0" indent="-27432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      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–</a:t>
            </a:r>
            <a:r>
              <a:rPr kumimoji="0" lang="ru-RU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 </a:t>
            </a:r>
            <a:r>
              <a:rPr kumimoji="0" lang="ru-RU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постоянная времени двигателя,</a:t>
            </a:r>
          </a:p>
          <a:p>
            <a:pPr marL="0" marR="0" lvl="0" indent="-27432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ru-RU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      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–</a:t>
            </a:r>
            <a:r>
              <a:rPr kumimoji="0" lang="ru-RU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 </a:t>
            </a:r>
            <a:r>
              <a:rPr kumimoji="0" lang="ru-RU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сопротивление якорной цепи,</a:t>
            </a:r>
            <a:r>
              <a:rPr kumimoji="0" lang="ru-RU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 </a:t>
            </a:r>
          </a:p>
          <a:p>
            <a:pPr marL="0" marR="0" lvl="0" indent="-27432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ru-RU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       </a:t>
            </a:r>
            <a:r>
              <a:rPr kumimoji="0" lang="en-US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–</a:t>
            </a:r>
            <a:r>
              <a:rPr kumimoji="0" lang="ru-RU" sz="2400" b="0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 </a:t>
            </a:r>
            <a:r>
              <a:rPr kumimoji="0" lang="ru-RU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lt"/>
                <a:cs typeface="+mn-lt"/>
              </a:rPr>
              <a:t>фазное напряжение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lt"/>
              <a:cs typeface="+mn-lt"/>
            </a:endParaRPr>
          </a:p>
        </p:txBody>
      </p:sp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2928926" y="4786322"/>
          <a:ext cx="297121" cy="284936"/>
        </p:xfrm>
        <a:graphic>
          <a:graphicData uri="http://schemas.openxmlformats.org/presentationml/2006/ole">
            <p:oleObj spid="_x0000_s3078" name="Формула" r:id="rId7" imgW="241200" imgH="228600" progId="Equation.3">
              <p:embed/>
            </p:oleObj>
          </a:graphicData>
        </a:graphic>
      </p:graphicFrame>
      <p:graphicFrame>
        <p:nvGraphicFramePr>
          <p:cNvPr id="10" name="Object 14"/>
          <p:cNvGraphicFramePr>
            <a:graphicFrameLocks noChangeAspect="1"/>
          </p:cNvGraphicFramePr>
          <p:nvPr/>
        </p:nvGraphicFramePr>
        <p:xfrm>
          <a:off x="2928926" y="5214950"/>
          <a:ext cx="255880" cy="236197"/>
        </p:xfrm>
        <a:graphic>
          <a:graphicData uri="http://schemas.openxmlformats.org/presentationml/2006/ole">
            <p:oleObj spid="_x0000_s3079" name="Формула" r:id="rId8" imgW="241200" imgH="215640" progId="Equation.3">
              <p:embed/>
            </p:oleObj>
          </a:graphicData>
        </a:graphic>
      </p:graphicFrame>
      <p:graphicFrame>
        <p:nvGraphicFramePr>
          <p:cNvPr id="11" name="Object 16"/>
          <p:cNvGraphicFramePr>
            <a:graphicFrameLocks noChangeAspect="1"/>
          </p:cNvGraphicFramePr>
          <p:nvPr/>
        </p:nvGraphicFramePr>
        <p:xfrm>
          <a:off x="2928926" y="5429264"/>
          <a:ext cx="176210" cy="254942"/>
        </p:xfrm>
        <a:graphic>
          <a:graphicData uri="http://schemas.openxmlformats.org/presentationml/2006/ole">
            <p:oleObj spid="_x0000_s3080" name="Формула" r:id="rId9" imgW="177480" imgH="215640" progId="Equation.3">
              <p:embed/>
            </p:oleObj>
          </a:graphicData>
        </a:graphic>
      </p:graphicFrame>
      <p:graphicFrame>
        <p:nvGraphicFramePr>
          <p:cNvPr id="12" name="Object 18"/>
          <p:cNvGraphicFramePr>
            <a:graphicFrameLocks noChangeAspect="1"/>
          </p:cNvGraphicFramePr>
          <p:nvPr/>
        </p:nvGraphicFramePr>
        <p:xfrm>
          <a:off x="2928926" y="5643578"/>
          <a:ext cx="225887" cy="298058"/>
        </p:xfrm>
        <a:graphic>
          <a:graphicData uri="http://schemas.openxmlformats.org/presentationml/2006/ole">
            <p:oleObj spid="_x0000_s3081" name="Формула" r:id="rId10" imgW="177480" imgH="241200" progId="Equation.3">
              <p:embed/>
            </p:oleObj>
          </a:graphicData>
        </a:graphic>
      </p:graphicFrame>
      <p:graphicFrame>
        <p:nvGraphicFramePr>
          <p:cNvPr id="13" name="Object 20"/>
          <p:cNvGraphicFramePr>
            <a:graphicFrameLocks noChangeAspect="1"/>
          </p:cNvGraphicFramePr>
          <p:nvPr/>
        </p:nvGraphicFramePr>
        <p:xfrm>
          <a:off x="2928926" y="5857892"/>
          <a:ext cx="254943" cy="254943"/>
        </p:xfrm>
        <a:graphic>
          <a:graphicData uri="http://schemas.openxmlformats.org/presentationml/2006/ole">
            <p:oleObj spid="_x0000_s3082" name="Формула" r:id="rId11" imgW="215640" imgH="215640" progId="Equation.3">
              <p:embed/>
            </p:oleObj>
          </a:graphicData>
        </a:graphic>
      </p:graphicFrame>
      <p:graphicFrame>
        <p:nvGraphicFramePr>
          <p:cNvPr id="14" name="Object 22"/>
          <p:cNvGraphicFramePr>
            <a:graphicFrameLocks noChangeAspect="1"/>
          </p:cNvGraphicFramePr>
          <p:nvPr/>
        </p:nvGraphicFramePr>
        <p:xfrm>
          <a:off x="2928926" y="6072206"/>
          <a:ext cx="273689" cy="298058"/>
        </p:xfrm>
        <a:graphic>
          <a:graphicData uri="http://schemas.openxmlformats.org/presentationml/2006/ole">
            <p:oleObj spid="_x0000_s3083" name="Формула" r:id="rId12" imgW="215640" imgH="241200" progId="Equation.3">
              <p:embed/>
            </p:oleObj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14282" y="3857628"/>
            <a:ext cx="36156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/>
              <a:t>Уравнения динамики ЭП постоянного тока </a:t>
            </a:r>
          </a:p>
          <a:p>
            <a:r>
              <a:rPr lang="ru-RU" sz="1400" b="1" dirty="0" smtClean="0"/>
              <a:t>с независимым возбуждением:</a:t>
            </a:r>
            <a:endParaRPr lang="ru-RU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480994"/>
          </a:xfrm>
        </p:spPr>
        <p:txBody>
          <a:bodyPr>
            <a:noAutofit/>
          </a:bodyPr>
          <a:lstStyle/>
          <a:p>
            <a:r>
              <a:rPr lang="ru-RU" sz="3200" dirty="0"/>
              <a:t>Блок управления двигателем</a:t>
            </a:r>
            <a:r>
              <a:rPr lang="ru-RU" sz="3200" dirty="0" smtClean="0"/>
              <a:t> </a:t>
            </a:r>
            <a:endParaRPr lang="ru-RU" sz="3200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3276600" y="2060575"/>
            <a:ext cx="25332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Структурная схема БУД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7813" y="2708275"/>
            <a:ext cx="5903912" cy="291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571472" y="5643578"/>
            <a:ext cx="799372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Функциональная схема 3-х фазного ВЭПТ с широтно-импульсной модуляцией </a:t>
            </a: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95513" y="981075"/>
            <a:ext cx="4743450" cy="990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4282" y="214290"/>
            <a:ext cx="8472518" cy="981060"/>
          </a:xfrm>
        </p:spPr>
        <p:txBody>
          <a:bodyPr>
            <a:noAutofit/>
          </a:bodyPr>
          <a:lstStyle/>
          <a:p>
            <a:r>
              <a:rPr lang="ru-RU" sz="3200" dirty="0"/>
              <a:t>Зависимость момента потерь холостого хода от частоты вращения вала ЭД </a:t>
            </a:r>
            <a:r>
              <a:rPr lang="ru-RU" sz="3200" dirty="0" smtClean="0"/>
              <a:t>4ДБМ70-1,1-1,3-3 </a:t>
            </a:r>
            <a:endParaRPr lang="ru-RU" sz="32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500034" y="3857628"/>
          <a:ext cx="1785950" cy="2851614"/>
        </p:xfrm>
        <a:graphic>
          <a:graphicData uri="http://schemas.openxmlformats.org/drawingml/2006/table">
            <a:tbl>
              <a:tblPr/>
              <a:tblGrid>
                <a:gridCol w="642942"/>
                <a:gridCol w="571504"/>
                <a:gridCol w="571504"/>
              </a:tblGrid>
              <a:tr h="2143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latin typeface="Times New Roman"/>
                          <a:ea typeface="Times New Roman"/>
                        </a:rPr>
                        <a:t>n</a:t>
                      </a:r>
                      <a:r>
                        <a:rPr lang="ru-RU" sz="1200" baseline="-25000" dirty="0" err="1">
                          <a:latin typeface="Times New Roman"/>
                          <a:ea typeface="Times New Roman"/>
                        </a:rPr>
                        <a:t>в</a:t>
                      </a:r>
                      <a:r>
                        <a:rPr lang="ru-RU" sz="1200" dirty="0">
                          <a:latin typeface="Times New Roman"/>
                          <a:ea typeface="Times New Roman"/>
                        </a:rPr>
                        <a:t>,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latin typeface="Times New Roman"/>
                          <a:ea typeface="Times New Roman"/>
                        </a:rPr>
                        <a:t>M</a:t>
                      </a:r>
                      <a:r>
                        <a:rPr lang="ru-RU" sz="1200" baseline="-25000" dirty="0" err="1">
                          <a:latin typeface="Times New Roman"/>
                          <a:ea typeface="Times New Roman"/>
                        </a:rPr>
                        <a:t>хх</a:t>
                      </a:r>
                      <a:endParaRPr lang="ru-RU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7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</a:rPr>
                        <a:t>об/мин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вт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Н*м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6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286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</a:rPr>
                        <a:t>1,31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0,0434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3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557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</a:rPr>
                        <a:t>3,22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0,0552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3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792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</a:rPr>
                        <a:t>5,13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0,0620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3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974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</a:rPr>
                        <a:t>6,96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</a:rPr>
                        <a:t>0,0682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1127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</a:rPr>
                        <a:t>8,68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</a:rPr>
                        <a:t>0,0735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1258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10,33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</a:rPr>
                        <a:t>0,0785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46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1372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</a:rPr>
                        <a:t>11,86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</a:rPr>
                        <a:t>0,0826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5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1487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13,94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</a:rPr>
                        <a:t>0,0895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3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1604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17,06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</a:rPr>
                        <a:t>0,1016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3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1733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20,87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</a:rPr>
                        <a:t>0,1150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1793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23,65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</a:rPr>
                        <a:t>0,1260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1852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</a:rPr>
                        <a:t>27,71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</a:rPr>
                        <a:t>0,1429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Рисунок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071546"/>
            <a:ext cx="4143404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4876" y="1071546"/>
            <a:ext cx="4143404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3" descr="Стенд 2 минимум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28926" y="3929066"/>
            <a:ext cx="5800080" cy="2571768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480994"/>
          </a:xfrm>
        </p:spPr>
        <p:txBody>
          <a:bodyPr>
            <a:noAutofit/>
          </a:bodyPr>
          <a:lstStyle/>
          <a:p>
            <a:r>
              <a:rPr lang="ru-RU" sz="3200" dirty="0"/>
              <a:t>Модель электропривода в среде </a:t>
            </a:r>
            <a:r>
              <a:rPr sz="3200"/>
              <a:t>Matlab Simulink</a:t>
            </a:r>
            <a:r>
              <a:rPr lang="ru-RU" sz="3200" dirty="0" smtClean="0"/>
              <a:t> </a:t>
            </a:r>
            <a:endParaRPr lang="ru-RU" sz="32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428736"/>
            <a:ext cx="7215238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/>
          <p:cNvSpPr/>
          <p:nvPr/>
        </p:nvSpPr>
        <p:spPr>
          <a:xfrm>
            <a:off x="2857488" y="450057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i="1" dirty="0" smtClean="0">
                <a:latin typeface="Times New Roman" pitchFamily="18" charset="0"/>
                <a:cs typeface="Times New Roman" pitchFamily="18" charset="0"/>
              </a:rPr>
              <a:t>Мхх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i="1" dirty="0" smtClean="0">
                <a:latin typeface="Times New Roman" pitchFamily="18" charset="0"/>
                <a:cs typeface="Times New Roman" pitchFamily="18" charset="0"/>
              </a:rPr>
              <a:t>n)</a:t>
            </a:r>
            <a:r>
              <a:rPr lang="pt-BR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7.0749736*10^(-5)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*n</a:t>
            </a:r>
            <a:endParaRPr lang="ru-RU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42844" y="5286388"/>
          <a:ext cx="8858315" cy="1000131"/>
        </p:xfrm>
        <a:graphic>
          <a:graphicData uri="http://schemas.openxmlformats.org/drawingml/2006/table">
            <a:tbl>
              <a:tblPr/>
              <a:tblGrid>
                <a:gridCol w="357190"/>
                <a:gridCol w="571504"/>
                <a:gridCol w="439501"/>
                <a:gridCol w="440352"/>
                <a:gridCol w="440869"/>
                <a:gridCol w="440352"/>
                <a:gridCol w="440869"/>
                <a:gridCol w="440352"/>
                <a:gridCol w="440869"/>
                <a:gridCol w="440352"/>
                <a:gridCol w="440869"/>
                <a:gridCol w="440352"/>
                <a:gridCol w="440869"/>
                <a:gridCol w="440352"/>
                <a:gridCol w="440869"/>
                <a:gridCol w="440352"/>
                <a:gridCol w="440869"/>
                <a:gridCol w="440352"/>
                <a:gridCol w="440869"/>
                <a:gridCol w="440352"/>
              </a:tblGrid>
              <a:tr h="3333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Н*м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0,401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0,514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0,54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0,586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0,673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0,757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0,917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1,331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1,51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1,637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1,773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1,958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2,202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2,525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2,536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2,742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2,779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3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ru-RU" sz="1200" baseline="-250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</a:t>
                      </a: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об/мин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1566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1487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1466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1460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1449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1431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1411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1376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1288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1244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1226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1189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1141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1097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1017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1023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968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952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3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ru-RU" sz="1200" baseline="-250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</a:t>
                      </a: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, р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об/мин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1570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1482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1458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1452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1442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1422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1405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1370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1280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1241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1213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1183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1143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1090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1020</a:t>
                      </a:r>
                      <a:endParaRPr lang="ru-RU" sz="1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1017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972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B122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964</a:t>
                      </a:r>
                      <a:endParaRPr lang="ru-RU" sz="1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8501" marR="385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480994"/>
          </a:xfrm>
        </p:spPr>
        <p:txBody>
          <a:bodyPr>
            <a:noAutofit/>
          </a:bodyPr>
          <a:lstStyle/>
          <a:p>
            <a:r>
              <a:rPr lang="ru-RU" sz="3200" dirty="0" smtClean="0"/>
              <a:t>Исследуемый гребной </a:t>
            </a:r>
            <a:r>
              <a:rPr lang="ru-RU" sz="3200" dirty="0"/>
              <a:t>винт </a:t>
            </a:r>
            <a:r>
              <a:rPr lang="ru-RU" sz="3200" dirty="0" smtClean="0"/>
              <a:t>НПА</a:t>
            </a:r>
            <a:endParaRPr lang="ru-RU" sz="3200" dirty="0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6443663" y="1341438"/>
            <a:ext cx="1898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ru-RU"/>
              <a:t>- диаметр винта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6443663" y="1700213"/>
            <a:ext cx="2463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ru-RU"/>
              <a:t>- шаговое отношение</a:t>
            </a: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6443663" y="2349500"/>
            <a:ext cx="16748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ru-RU"/>
              <a:t>- номер серии</a:t>
            </a: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6443663" y="2636838"/>
            <a:ext cx="19923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ru-RU" dirty="0"/>
              <a:t>- число лопастей</a:t>
            </a: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6443663" y="2990850"/>
            <a:ext cx="20161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ru-RU" dirty="0"/>
              <a:t>- плотность воды</a:t>
            </a: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6443663" y="1982788"/>
            <a:ext cx="25431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ru-RU" dirty="0"/>
              <a:t>- дисковое отношение</a:t>
            </a:r>
          </a:p>
        </p:txBody>
      </p:sp>
      <p:pic>
        <p:nvPicPr>
          <p:cNvPr id="7188" name="Picture 20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00628" y="1428736"/>
            <a:ext cx="1071570" cy="285752"/>
          </a:xfrm>
          <a:prstGeom prst="rect">
            <a:avLst/>
          </a:prstGeom>
          <a:noFill/>
        </p:spPr>
      </p:pic>
      <p:pic>
        <p:nvPicPr>
          <p:cNvPr id="7186" name="Picture 18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143504" y="2071678"/>
            <a:ext cx="714380" cy="259775"/>
          </a:xfrm>
          <a:prstGeom prst="rect">
            <a:avLst/>
          </a:prstGeom>
          <a:noFill/>
        </p:spPr>
      </p:pic>
      <p:pic>
        <p:nvPicPr>
          <p:cNvPr id="7185" name="Picture 17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143504" y="2428868"/>
            <a:ext cx="757243" cy="285752"/>
          </a:xfrm>
          <a:prstGeom prst="rect">
            <a:avLst/>
          </a:prstGeom>
          <a:noFill/>
        </p:spPr>
      </p:pic>
      <p:pic>
        <p:nvPicPr>
          <p:cNvPr id="7184" name="Picture 16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86380" y="2714620"/>
            <a:ext cx="500066" cy="285752"/>
          </a:xfrm>
          <a:prstGeom prst="rect">
            <a:avLst/>
          </a:prstGeom>
          <a:noFill/>
        </p:spPr>
      </p:pic>
      <p:pic>
        <p:nvPicPr>
          <p:cNvPr id="7183" name="Picture 15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14876" y="3071810"/>
            <a:ext cx="1814525" cy="285752"/>
          </a:xfrm>
          <a:prstGeom prst="rect">
            <a:avLst/>
          </a:prstGeom>
          <a:noFill/>
        </p:spPr>
      </p:pic>
      <p:sp>
        <p:nvSpPr>
          <p:cNvPr id="7189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190" name="Rectangle 22"/>
          <p:cNvSpPr>
            <a:spLocks noChangeArrowheads="1"/>
          </p:cNvSpPr>
          <p:nvPr/>
        </p:nvSpPr>
        <p:spPr bwMode="auto">
          <a:xfrm>
            <a:off x="0" y="1905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91" name="Rectangle 23"/>
          <p:cNvSpPr>
            <a:spLocks noChangeArrowheads="1"/>
          </p:cNvSpPr>
          <p:nvPr/>
        </p:nvSpPr>
        <p:spPr bwMode="auto">
          <a:xfrm>
            <a:off x="0" y="523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92" name="Rectangle 24"/>
          <p:cNvSpPr>
            <a:spLocks noChangeArrowheads="1"/>
          </p:cNvSpPr>
          <p:nvPr/>
        </p:nvSpPr>
        <p:spPr bwMode="auto">
          <a:xfrm>
            <a:off x="0" y="7143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93" name="Rectangle 25"/>
          <p:cNvSpPr>
            <a:spLocks noChangeArrowheads="1"/>
          </p:cNvSpPr>
          <p:nvPr/>
        </p:nvSpPr>
        <p:spPr bwMode="auto">
          <a:xfrm>
            <a:off x="0" y="904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94" name="Rectangle 26"/>
          <p:cNvSpPr>
            <a:spLocks noChangeArrowheads="1"/>
          </p:cNvSpPr>
          <p:nvPr/>
        </p:nvSpPr>
        <p:spPr bwMode="auto">
          <a:xfrm>
            <a:off x="0" y="10953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96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195" name="Picture 27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72066" y="1785926"/>
            <a:ext cx="814393" cy="285752"/>
          </a:xfrm>
          <a:prstGeom prst="rect">
            <a:avLst/>
          </a:prstGeom>
          <a:noFill/>
        </p:spPr>
      </p:pic>
      <p:pic>
        <p:nvPicPr>
          <p:cNvPr id="25" name="Picture 9" descr="Движитель ТНПА сбоку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14282" y="3571876"/>
            <a:ext cx="4643470" cy="313423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</p:spPr>
      </p:pic>
      <p:pic>
        <p:nvPicPr>
          <p:cNvPr id="28" name="Picture 10" descr="Движитель ТНПА анфас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286380" y="3571876"/>
            <a:ext cx="3357586" cy="3103652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</p:spPr>
      </p:pic>
      <p:pic>
        <p:nvPicPr>
          <p:cNvPr id="33" name="Picture 4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14282" y="1000108"/>
            <a:ext cx="4174816" cy="242889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Group 2"/>
          <p:cNvGraphicFramePr>
            <a:graphicFrameLocks noGrp="1"/>
          </p:cNvGraphicFramePr>
          <p:nvPr>
            <p:ph sz="half" idx="1"/>
          </p:nvPr>
        </p:nvGraphicFramePr>
        <p:xfrm>
          <a:off x="142875" y="4895850"/>
          <a:ext cx="5276850" cy="1840920"/>
        </p:xfrm>
        <a:graphic>
          <a:graphicData uri="http://schemas.openxmlformats.org/drawingml/2006/table">
            <a:tbl>
              <a:tblPr/>
              <a:tblGrid>
                <a:gridCol w="4495800"/>
                <a:gridCol w="78105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Максимальная тяга движителя, кг</a:t>
                      </a:r>
                    </a:p>
                  </a:txBody>
                  <a:tcPr marL="90000" marR="90000" marT="36000" marB="36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12,46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itchFamily="34" charset="0"/>
                        <a:cs typeface="Times New Roman" pitchFamily="18" charset="0"/>
                      </a:endParaRPr>
                    </a:p>
                  </a:txBody>
                  <a:tcPr marL="90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 Частота вращения при максимальной тяге, об/мин</a:t>
                      </a:r>
                    </a:p>
                  </a:txBody>
                  <a:tcPr marL="36000" marR="36000" marT="36000" marB="36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1037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 Мощность потребления БУД при максимальной тяге, Вт</a:t>
                      </a:r>
                      <a:r>
                        <a:rPr kumimoji="0" lang="ru-RU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</a:p>
                  </a:txBody>
                  <a:tcPr marL="36000" marR="36000" marT="36000" marB="36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510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 Мощность на валу при максимальной тяге, Вт</a:t>
                      </a:r>
                    </a:p>
                  </a:txBody>
                  <a:tcPr marL="36000" marR="36000" marT="36000" marB="36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266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 Максимальная тяга на реверсе, кг</a:t>
                      </a:r>
                      <a:endParaRPr kumimoji="0" lang="ru-RU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36000" marR="36000" marT="36000" marB="36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12,45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 Частота вращения на реверсе, об/мин</a:t>
                      </a:r>
                    </a:p>
                  </a:txBody>
                  <a:tcPr marL="36000" marR="36000" marT="36000" marB="36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987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 Мощность потребления БУД на реверсе, Вт</a:t>
                      </a:r>
                    </a:p>
                  </a:txBody>
                  <a:tcPr marL="36000" marR="36000" marT="36000" marB="36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513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 Мощность на валу при максимальной тяге на реверсе, Вт</a:t>
                      </a:r>
                    </a:p>
                  </a:txBody>
                  <a:tcPr marL="36000" marR="36000" marT="36000" marB="36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275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27" name="Text Box 31"/>
          <p:cNvSpPr txBox="1">
            <a:spLocks noChangeArrowheads="1"/>
          </p:cNvSpPr>
          <p:nvPr/>
        </p:nvSpPr>
        <p:spPr bwMode="auto">
          <a:xfrm>
            <a:off x="146050" y="4603750"/>
            <a:ext cx="5257800" cy="2127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ru-RU" sz="1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Швартовые характеристики движителя</a:t>
            </a:r>
          </a:p>
        </p:txBody>
      </p:sp>
      <p:pic>
        <p:nvPicPr>
          <p:cNvPr id="4129" name="Picture 33" descr="Движитель на балке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50" y="638175"/>
            <a:ext cx="5230813" cy="195580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</p:spPr>
      </p:pic>
      <p:pic>
        <p:nvPicPr>
          <p:cNvPr id="4130" name="Picture 3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10225" y="638175"/>
            <a:ext cx="3343275" cy="188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31" name="Picture 3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05463" y="2705100"/>
            <a:ext cx="3338512" cy="191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32" name="Text Box 36"/>
          <p:cNvSpPr txBox="1">
            <a:spLocks noChangeArrowheads="1"/>
          </p:cNvSpPr>
          <p:nvPr/>
        </p:nvSpPr>
        <p:spPr bwMode="auto">
          <a:xfrm>
            <a:off x="0" y="58738"/>
            <a:ext cx="9144000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Бассейновые испытания гребного электропривода</a:t>
            </a:r>
            <a:endParaRPr lang="ru-RU" sz="20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</a:endParaRPr>
          </a:p>
        </p:txBody>
      </p:sp>
      <p:pic>
        <p:nvPicPr>
          <p:cNvPr id="4133" name="Picture 37"/>
          <p:cNvPicPr preferRelativeResize="0"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616575" y="4819650"/>
            <a:ext cx="3321050" cy="19177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</p:pic>
      <p:sp>
        <p:nvSpPr>
          <p:cNvPr id="4134" name="Text Box 38"/>
          <p:cNvSpPr txBox="1">
            <a:spLocks noChangeArrowheads="1"/>
          </p:cNvSpPr>
          <p:nvPr/>
        </p:nvSpPr>
        <p:spPr bwMode="auto">
          <a:xfrm>
            <a:off x="5670550" y="2527300"/>
            <a:ext cx="3257550" cy="152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ru-RU" sz="10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Статическая характеристика движителя</a:t>
            </a:r>
          </a:p>
        </p:txBody>
      </p:sp>
      <p:sp>
        <p:nvSpPr>
          <p:cNvPr id="4135" name="Text Box 39"/>
          <p:cNvSpPr txBox="1">
            <a:spLocks noChangeArrowheads="1"/>
          </p:cNvSpPr>
          <p:nvPr/>
        </p:nvSpPr>
        <p:spPr bwMode="auto">
          <a:xfrm>
            <a:off x="5613400" y="4660900"/>
            <a:ext cx="3324225" cy="152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ru-RU" sz="10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Зависимость мощности потребления от оборотов</a:t>
            </a:r>
          </a:p>
        </p:txBody>
      </p:sp>
      <p:sp>
        <p:nvSpPr>
          <p:cNvPr id="4136" name="Text Box 40"/>
          <p:cNvSpPr txBox="1">
            <a:spLocks noChangeArrowheads="1"/>
          </p:cNvSpPr>
          <p:nvPr/>
        </p:nvSpPr>
        <p:spPr bwMode="auto">
          <a:xfrm>
            <a:off x="5622925" y="479425"/>
            <a:ext cx="3295650" cy="152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ru-RU" sz="10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Скриншот программы «Тест движителя»</a:t>
            </a:r>
          </a:p>
        </p:txBody>
      </p:sp>
      <p:sp>
        <p:nvSpPr>
          <p:cNvPr id="4137" name="Text Box 41"/>
          <p:cNvSpPr txBox="1">
            <a:spLocks noChangeArrowheads="1"/>
          </p:cNvSpPr>
          <p:nvPr/>
        </p:nvSpPr>
        <p:spPr bwMode="auto">
          <a:xfrm>
            <a:off x="1260475" y="460375"/>
            <a:ext cx="2971800" cy="152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ru-RU" sz="10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Тензометрическая балка с движителем</a:t>
            </a:r>
          </a:p>
        </p:txBody>
      </p:sp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85720" y="2714620"/>
            <a:ext cx="5000660" cy="193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09622"/>
          </a:xfrm>
        </p:spPr>
        <p:txBody>
          <a:bodyPr>
            <a:noAutofit/>
          </a:bodyPr>
          <a:lstStyle/>
          <a:p>
            <a:r>
              <a:rPr lang="ru-RU" sz="3200" dirty="0" smtClean="0"/>
              <a:t>Настройка параметров моделирования в среде </a:t>
            </a:r>
            <a:r>
              <a:rPr sz="3200" smtClean="0"/>
              <a:t>Solidworks Flow Simulation</a:t>
            </a:r>
            <a:endParaRPr lang="ru-RU" sz="32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285860"/>
            <a:ext cx="3071834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72198" y="1285860"/>
            <a:ext cx="2928958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785918" y="3857628"/>
          <a:ext cx="5214971" cy="2878253"/>
        </p:xfrm>
        <a:graphic>
          <a:graphicData uri="http://schemas.openxmlformats.org/drawingml/2006/table">
            <a:tbl>
              <a:tblPr/>
              <a:tblGrid>
                <a:gridCol w="400497"/>
                <a:gridCol w="574047"/>
                <a:gridCol w="410207"/>
                <a:gridCol w="435087"/>
                <a:gridCol w="405958"/>
                <a:gridCol w="613490"/>
                <a:gridCol w="371372"/>
                <a:gridCol w="367730"/>
                <a:gridCol w="492127"/>
                <a:gridCol w="337997"/>
                <a:gridCol w="371372"/>
                <a:gridCol w="435087"/>
              </a:tblGrid>
              <a:tr h="1332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ru-RU" sz="800" dirty="0">
                        <a:latin typeface="Calibri"/>
                        <a:ea typeface="Times New Roman"/>
                      </a:endParaRPr>
                    </a:p>
                  </a:txBody>
                  <a:tcPr marL="51563" marR="5156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ru-RU" sz="800">
                        <a:latin typeface="Calibri"/>
                        <a:ea typeface="Times New Roman"/>
                      </a:endParaRPr>
                    </a:p>
                  </a:txBody>
                  <a:tcPr marL="51563" marR="51563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Шварт. Реж.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V=0,25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V=0,5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V=0,75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V=1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1264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КОД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n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М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T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М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T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М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T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М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T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М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T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819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 dirty="0" err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ед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об\мин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Н*м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Н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Н*м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Н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Н*м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Н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Н*м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Н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Н*м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Н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</a:tr>
              <a:tr h="2110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127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1037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3,13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122,2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3,02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108,17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2,93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93,7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2,78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79,92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2,65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66,19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0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120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1005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2,93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115,5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2,82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101,11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2,70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87,1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2,59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73,75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2,46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60,61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0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110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945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2,56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101,2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2,47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88,95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2,37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76,7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2,26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64,14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2,15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51,78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0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100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881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2,26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87,28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2,18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76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2,10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65,2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2,00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54,33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1,9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44,13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0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90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814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1,92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73,94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1,85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63,74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1,78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54,3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1,68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44,33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1,58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35,11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9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80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747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1,59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61,59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1,53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53,05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1,47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44,1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1,40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35,6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1,28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26,97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0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70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671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1,31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48,94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1,26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42,07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1,19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34,1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1,11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26,48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1,01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19,12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0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60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596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1,04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37,66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1,00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32,07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0,93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25,6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0,85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18,93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0,75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12,26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10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510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0,75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26,67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0,71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21,77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0,66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16,6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0,59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11,28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5,88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9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40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418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0,52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17,65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0,47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14,02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0,42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10,2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0,36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5,98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0,27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2,45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9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320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0,30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9,02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0,28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6,77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0,22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4,12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0,16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1,37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0,08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-0,2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9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211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0,12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0,11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3,2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0,07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1,47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-0,01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 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 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51563" marR="51563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Рисунок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86116" y="1285860"/>
            <a:ext cx="2786082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480994"/>
          </a:xfrm>
        </p:spPr>
        <p:txBody>
          <a:bodyPr>
            <a:noAutofit/>
          </a:bodyPr>
          <a:lstStyle/>
          <a:p>
            <a:r>
              <a:rPr lang="ru-RU" sz="3200" dirty="0" smtClean="0"/>
              <a:t>Кривые действия  гребного винта</a:t>
            </a:r>
            <a:endParaRPr lang="ru-RU" sz="32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857232"/>
            <a:ext cx="3786214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3714752"/>
            <a:ext cx="3857652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00496" y="2500306"/>
            <a:ext cx="5143504" cy="4198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9697" name="Picture 1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57686" y="1000108"/>
            <a:ext cx="1205128" cy="571504"/>
          </a:xfrm>
          <a:prstGeom prst="rect">
            <a:avLst/>
          </a:prstGeom>
          <a:noFill/>
        </p:spPr>
      </p:pic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57686" y="1714488"/>
            <a:ext cx="1143008" cy="525784"/>
          </a:xfrm>
          <a:prstGeom prst="rect">
            <a:avLst/>
          </a:prstGeom>
          <a:noFill/>
        </p:spPr>
      </p:pic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43702" y="1214422"/>
            <a:ext cx="1103136" cy="5715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480994"/>
          </a:xfrm>
        </p:spPr>
        <p:txBody>
          <a:bodyPr>
            <a:noAutofit/>
          </a:bodyPr>
          <a:lstStyle/>
          <a:p>
            <a:r>
              <a:rPr lang="ru-RU" sz="3200" dirty="0" smtClean="0"/>
              <a:t>Паспортные диаграммы гребного винта</a:t>
            </a:r>
            <a:endParaRPr lang="ru-RU" sz="3200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857232"/>
            <a:ext cx="4357718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0562" y="857232"/>
            <a:ext cx="4500594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857488" y="4286256"/>
          <a:ext cx="3643338" cy="2523744"/>
        </p:xfrm>
        <a:graphic>
          <a:graphicData uri="http://schemas.openxmlformats.org/drawingml/2006/table">
            <a:tbl>
              <a:tblPr/>
              <a:tblGrid>
                <a:gridCol w="473545"/>
                <a:gridCol w="473545"/>
                <a:gridCol w="738434"/>
                <a:gridCol w="489824"/>
                <a:gridCol w="489330"/>
                <a:gridCol w="489330"/>
                <a:gridCol w="489330"/>
              </a:tblGrid>
              <a:tr h="9822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ru-RU" sz="900" dirty="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ru-RU" sz="900" dirty="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Шварт. Реж.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V=0,25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V=0,5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V=0,75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V=1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</a:tr>
              <a:tr h="98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КОД</a:t>
                      </a:r>
                      <a:endParaRPr lang="ru-RU" sz="9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n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N</a:t>
                      </a:r>
                      <a:endParaRPr lang="ru-RU" sz="9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N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N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N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N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645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ед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об\мин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Вт</a:t>
                      </a:r>
                      <a:endParaRPr lang="ru-RU" sz="9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Вт</a:t>
                      </a:r>
                      <a:endParaRPr lang="ru-RU" sz="9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Вт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Вт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Вт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</a:tr>
              <a:tr h="98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127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1037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339,4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327,9</a:t>
                      </a:r>
                      <a:endParaRPr lang="ru-RU" sz="9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317,91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301,52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287,74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120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1005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308,31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296,74</a:t>
                      </a:r>
                      <a:endParaRPr lang="ru-RU" sz="9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284,43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272,02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258,77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110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945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253,21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244,31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234,12</a:t>
                      </a:r>
                      <a:endParaRPr lang="ru-RU" sz="9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223,44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212,46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100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881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208,4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201,21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193,64</a:t>
                      </a:r>
                      <a:endParaRPr lang="ru-RU" sz="9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184,42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174,74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90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814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163,58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157,62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151,99</a:t>
                      </a:r>
                      <a:endParaRPr lang="ru-RU" sz="9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142,71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134,61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80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747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124,32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119,86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114,86</a:t>
                      </a:r>
                      <a:endParaRPr lang="ru-RU" sz="9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109,38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100,08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70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671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92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88,77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83,79</a:t>
                      </a:r>
                      <a:endParaRPr lang="ru-RU" sz="9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77,61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70,58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60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596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64,88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62,07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58,2</a:t>
                      </a:r>
                      <a:endParaRPr lang="ru-RU" sz="9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53,02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46,85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50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510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39,93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37,9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35,02</a:t>
                      </a:r>
                      <a:endParaRPr lang="ru-RU" sz="9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31,28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26,69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40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418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22,62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20,52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18,51</a:t>
                      </a:r>
                      <a:endParaRPr lang="ru-RU" sz="9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15,88</a:t>
                      </a:r>
                      <a:endParaRPr lang="ru-RU" sz="9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11,73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30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320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10,05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9,28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7,5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5,49</a:t>
                      </a:r>
                      <a:endParaRPr lang="ru-RU" sz="9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2,71</a:t>
                      </a:r>
                      <a:endParaRPr lang="ru-RU" sz="9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2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20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211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2,65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2,39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1,44</a:t>
                      </a:r>
                      <a:endParaRPr lang="ru-RU" sz="9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-0,11</a:t>
                      </a:r>
                      <a:endParaRPr lang="ru-RU" sz="9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</a:t>
                      </a:r>
                      <a:endParaRPr lang="ru-RU" sz="9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480994"/>
          </a:xfrm>
        </p:spPr>
        <p:txBody>
          <a:bodyPr>
            <a:noAutofit/>
          </a:bodyPr>
          <a:lstStyle/>
          <a:p>
            <a:r>
              <a:rPr lang="ru-RU" sz="3200" dirty="0"/>
              <a:t>Модель гребного винта в </a:t>
            </a:r>
            <a:r>
              <a:rPr sz="3200"/>
              <a:t> Matlab</a:t>
            </a:r>
            <a:r>
              <a:rPr lang="ru-RU" sz="3200" dirty="0"/>
              <a:t> </a:t>
            </a:r>
            <a:r>
              <a:rPr sz="3200"/>
              <a:t>Simulink</a:t>
            </a:r>
            <a:r>
              <a:rPr lang="ru-RU" sz="3200" dirty="0" smtClean="0"/>
              <a:t> </a:t>
            </a:r>
            <a:endParaRPr lang="ru-RU" sz="3200" dirty="0"/>
          </a:p>
        </p:txBody>
      </p:sp>
      <p:graphicFrame>
        <p:nvGraphicFramePr>
          <p:cNvPr id="27649" name="Object 1"/>
          <p:cNvGraphicFramePr>
            <a:graphicFrameLocks noChangeAspect="1"/>
          </p:cNvGraphicFramePr>
          <p:nvPr/>
        </p:nvGraphicFramePr>
        <p:xfrm>
          <a:off x="5929322" y="1214422"/>
          <a:ext cx="1871663" cy="1584325"/>
        </p:xfrm>
        <a:graphic>
          <a:graphicData uri="http://schemas.openxmlformats.org/presentationml/2006/ole">
            <p:oleObj spid="_x0000_s27649" name="Формула" r:id="rId3" imgW="1295280" imgH="901440" progId="Equation.3">
              <p:embed/>
            </p:oleObj>
          </a:graphicData>
        </a:graphic>
      </p:graphicFrame>
      <p:pic>
        <p:nvPicPr>
          <p:cNvPr id="5" name="Рисунок 4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85852" y="3286124"/>
            <a:ext cx="6643734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2143108" y="5929330"/>
            <a:ext cx="5492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600" i="1" dirty="0">
                <a:latin typeface="Times New Roman" pitchFamily="18" charset="0"/>
              </a:rPr>
              <a:t>Kt=f(</a:t>
            </a:r>
            <a:r>
              <a:rPr lang="ru-RU" i="1" dirty="0" err="1">
                <a:latin typeface="Times New Roman" pitchFamily="18" charset="0"/>
              </a:rPr>
              <a:t>λ</a:t>
            </a:r>
            <a:r>
              <a:rPr lang="ru-RU" dirty="0">
                <a:latin typeface="Times New Roman" pitchFamily="18" charset="0"/>
              </a:rPr>
              <a:t> </a:t>
            </a:r>
            <a:r>
              <a:rPr lang="en-US" sz="1600" i="1" dirty="0">
                <a:latin typeface="Times New Roman" pitchFamily="18" charset="0"/>
              </a:rPr>
              <a:t>) </a:t>
            </a:r>
            <a:r>
              <a:rPr lang="ru-RU" sz="1600" i="1" dirty="0">
                <a:latin typeface="Times New Roman" pitchFamily="18" charset="0"/>
              </a:rPr>
              <a:t>=</a:t>
            </a:r>
            <a:r>
              <a:rPr lang="en-US" sz="1600" i="1" dirty="0">
                <a:latin typeface="Times New Roman" pitchFamily="18" charset="0"/>
              </a:rPr>
              <a:t> </a:t>
            </a:r>
            <a:r>
              <a:rPr lang="en-US" sz="1600" i="1" dirty="0" smtClean="0">
                <a:latin typeface="Times New Roman" pitchFamily="18" charset="0"/>
              </a:rPr>
              <a:t>0.0964*</a:t>
            </a:r>
            <a:r>
              <a:rPr lang="ru-RU" sz="1600" i="1" dirty="0" smtClean="0">
                <a:latin typeface="Times New Roman" pitchFamily="18" charset="0"/>
              </a:rPr>
              <a:t> </a:t>
            </a:r>
            <a:r>
              <a:rPr lang="ru-RU" sz="1600" i="1" dirty="0" err="1" smtClean="0">
                <a:latin typeface="Times New Roman" pitchFamily="18" charset="0"/>
              </a:rPr>
              <a:t>λ</a:t>
            </a:r>
            <a:r>
              <a:rPr lang="ru-RU" sz="1600" i="1" dirty="0" smtClean="0">
                <a:latin typeface="Times New Roman" pitchFamily="18" charset="0"/>
              </a:rPr>
              <a:t> </a:t>
            </a:r>
            <a:r>
              <a:rPr lang="en-US" sz="1600" i="1" dirty="0" smtClean="0">
                <a:latin typeface="Times New Roman" pitchFamily="18" charset="0"/>
              </a:rPr>
              <a:t>^3-0.1601*</a:t>
            </a:r>
            <a:r>
              <a:rPr lang="ru-RU" sz="1600" i="1" dirty="0" smtClean="0">
                <a:latin typeface="Times New Roman" pitchFamily="18" charset="0"/>
              </a:rPr>
              <a:t> </a:t>
            </a:r>
            <a:r>
              <a:rPr lang="ru-RU" sz="1600" i="1" dirty="0" err="1" smtClean="0">
                <a:latin typeface="Times New Roman" pitchFamily="18" charset="0"/>
              </a:rPr>
              <a:t>λ</a:t>
            </a:r>
            <a:r>
              <a:rPr lang="ru-RU" sz="1600" i="1" dirty="0" smtClean="0">
                <a:latin typeface="Times New Roman" pitchFamily="18" charset="0"/>
              </a:rPr>
              <a:t> </a:t>
            </a:r>
            <a:r>
              <a:rPr lang="en-US" sz="1600" i="1" dirty="0" smtClean="0">
                <a:latin typeface="Times New Roman" pitchFamily="18" charset="0"/>
              </a:rPr>
              <a:t>^2-0.3784*</a:t>
            </a:r>
            <a:r>
              <a:rPr lang="ru-RU" sz="1600" i="1" dirty="0" smtClean="0">
                <a:latin typeface="Times New Roman" pitchFamily="18" charset="0"/>
              </a:rPr>
              <a:t> </a:t>
            </a:r>
            <a:r>
              <a:rPr lang="ru-RU" sz="1600" i="1" dirty="0" err="1" smtClean="0">
                <a:latin typeface="Times New Roman" pitchFamily="18" charset="0"/>
              </a:rPr>
              <a:t>λ</a:t>
            </a:r>
            <a:r>
              <a:rPr lang="ru-RU" sz="1600" i="1" dirty="0" smtClean="0">
                <a:latin typeface="Times New Roman" pitchFamily="18" charset="0"/>
              </a:rPr>
              <a:t> </a:t>
            </a:r>
            <a:r>
              <a:rPr lang="en-US" sz="1600" i="1" dirty="0" smtClean="0">
                <a:latin typeface="Times New Roman" pitchFamily="18" charset="0"/>
              </a:rPr>
              <a:t>+0.3869</a:t>
            </a:r>
            <a:endParaRPr lang="en-US" sz="1600" i="1" dirty="0">
              <a:latin typeface="Times New Roman" pitchFamily="18" charset="0"/>
            </a:endParaRPr>
          </a:p>
          <a:p>
            <a:r>
              <a:rPr lang="en-US" sz="1600" i="1" dirty="0">
                <a:latin typeface="Times New Roman" pitchFamily="18" charset="0"/>
              </a:rPr>
              <a:t>Km=f(</a:t>
            </a:r>
            <a:r>
              <a:rPr lang="ru-RU" i="1" dirty="0" err="1">
                <a:latin typeface="Times New Roman" pitchFamily="18" charset="0"/>
              </a:rPr>
              <a:t>λ</a:t>
            </a:r>
            <a:r>
              <a:rPr lang="ru-RU" dirty="0">
                <a:latin typeface="Times New Roman" pitchFamily="18" charset="0"/>
              </a:rPr>
              <a:t> </a:t>
            </a:r>
            <a:r>
              <a:rPr lang="en-US" sz="1600" i="1" dirty="0">
                <a:latin typeface="Times New Roman" pitchFamily="18" charset="0"/>
              </a:rPr>
              <a:t>) </a:t>
            </a:r>
            <a:r>
              <a:rPr lang="ru-RU" sz="1600" i="1" dirty="0">
                <a:latin typeface="Times New Roman" pitchFamily="18" charset="0"/>
              </a:rPr>
              <a:t>=</a:t>
            </a:r>
            <a:r>
              <a:rPr lang="en-US" sz="1600" i="1" dirty="0">
                <a:latin typeface="Times New Roman" pitchFamily="18" charset="0"/>
              </a:rPr>
              <a:t> </a:t>
            </a:r>
            <a:r>
              <a:rPr lang="en-US" sz="1600" i="1" dirty="0" smtClean="0">
                <a:latin typeface="Times New Roman" pitchFamily="18" charset="0"/>
              </a:rPr>
              <a:t>0.0124*</a:t>
            </a:r>
            <a:r>
              <a:rPr lang="ru-RU" sz="1600" i="1" dirty="0" smtClean="0">
                <a:latin typeface="Times New Roman" pitchFamily="18" charset="0"/>
              </a:rPr>
              <a:t> </a:t>
            </a:r>
            <a:r>
              <a:rPr lang="ru-RU" sz="1600" i="1" dirty="0" err="1" smtClean="0">
                <a:latin typeface="Times New Roman" pitchFamily="18" charset="0"/>
              </a:rPr>
              <a:t>λ</a:t>
            </a:r>
            <a:r>
              <a:rPr lang="ru-RU" sz="1600" i="1" dirty="0" smtClean="0">
                <a:latin typeface="Times New Roman" pitchFamily="18" charset="0"/>
              </a:rPr>
              <a:t> </a:t>
            </a:r>
            <a:r>
              <a:rPr lang="en-US" sz="1600" i="1" dirty="0" smtClean="0">
                <a:latin typeface="Times New Roman" pitchFamily="18" charset="0"/>
              </a:rPr>
              <a:t>^3-0.043*</a:t>
            </a:r>
            <a:r>
              <a:rPr lang="ru-RU" sz="1600" i="1" dirty="0" smtClean="0">
                <a:latin typeface="Times New Roman" pitchFamily="18" charset="0"/>
              </a:rPr>
              <a:t> </a:t>
            </a:r>
            <a:r>
              <a:rPr lang="ru-RU" sz="1600" i="1" dirty="0" err="1" smtClean="0">
                <a:latin typeface="Times New Roman" pitchFamily="18" charset="0"/>
              </a:rPr>
              <a:t>λ</a:t>
            </a:r>
            <a:r>
              <a:rPr lang="ru-RU" sz="1600" i="1" dirty="0" smtClean="0">
                <a:latin typeface="Times New Roman" pitchFamily="18" charset="0"/>
              </a:rPr>
              <a:t> </a:t>
            </a:r>
            <a:r>
              <a:rPr lang="en-US" sz="1600" i="1" dirty="0" smtClean="0">
                <a:latin typeface="Times New Roman" pitchFamily="18" charset="0"/>
              </a:rPr>
              <a:t>^2-0.0085*</a:t>
            </a:r>
            <a:r>
              <a:rPr lang="ru-RU" sz="1600" i="1" dirty="0" smtClean="0">
                <a:latin typeface="Times New Roman" pitchFamily="18" charset="0"/>
              </a:rPr>
              <a:t> </a:t>
            </a:r>
            <a:r>
              <a:rPr lang="ru-RU" sz="1600" i="1" dirty="0" err="1" smtClean="0">
                <a:latin typeface="Times New Roman" pitchFamily="18" charset="0"/>
              </a:rPr>
              <a:t>λ</a:t>
            </a:r>
            <a:r>
              <a:rPr lang="ru-RU" sz="1600" i="1" dirty="0" smtClean="0">
                <a:latin typeface="Times New Roman" pitchFamily="18" charset="0"/>
              </a:rPr>
              <a:t> </a:t>
            </a:r>
            <a:r>
              <a:rPr lang="en-US" sz="1600" i="1" dirty="0" smtClean="0">
                <a:latin typeface="Times New Roman" pitchFamily="18" charset="0"/>
              </a:rPr>
              <a:t>+0.059</a:t>
            </a:r>
            <a:r>
              <a:rPr lang="en-US" dirty="0" smtClean="0"/>
              <a:t> </a:t>
            </a:r>
            <a:endParaRPr lang="ru-RU" dirty="0"/>
          </a:p>
        </p:txBody>
      </p:sp>
      <p:pic>
        <p:nvPicPr>
          <p:cNvPr id="7" name="Рисунок 6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28728" y="928670"/>
            <a:ext cx="4000528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81060"/>
          </a:xfrm>
        </p:spPr>
        <p:txBody>
          <a:bodyPr>
            <a:noAutofit/>
          </a:bodyPr>
          <a:lstStyle/>
          <a:p>
            <a:r>
              <a:rPr lang="ru-RU" sz="3200" dirty="0"/>
              <a:t>Моделирование процесса работы движителя в «косом» потоке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14942" y="1428736"/>
            <a:ext cx="3714776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28" y="4429132"/>
            <a:ext cx="6072230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42844" y="1428736"/>
          <a:ext cx="5000660" cy="2804165"/>
        </p:xfrm>
        <a:graphic>
          <a:graphicData uri="http://schemas.openxmlformats.org/drawingml/2006/table">
            <a:tbl>
              <a:tblPr/>
              <a:tblGrid>
                <a:gridCol w="550696"/>
                <a:gridCol w="542665"/>
                <a:gridCol w="411301"/>
                <a:gridCol w="376883"/>
                <a:gridCol w="411301"/>
                <a:gridCol w="401549"/>
                <a:gridCol w="347626"/>
                <a:gridCol w="384339"/>
                <a:gridCol w="406712"/>
                <a:gridCol w="406138"/>
                <a:gridCol w="394530"/>
                <a:gridCol w="366920"/>
              </a:tblGrid>
              <a:tr h="3236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ru-RU" sz="800" dirty="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ru-RU" sz="800" dirty="0">
                        <a:latin typeface="Calibri"/>
                        <a:ea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Швартовый режим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V=0,25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V=0,5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V=0,75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V=1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175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КОД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 dirty="0" err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n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F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М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F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М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F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М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F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М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F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М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847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ед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об\мин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кгс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Н*м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кгс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Н*м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кгс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Н*м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кгс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Н*м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кгс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Н*м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BE97"/>
                    </a:solidFill>
                  </a:tcPr>
                </a:tc>
              </a:tr>
              <a:tr h="175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127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1037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12,46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3,13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10,78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latin typeface="Calibri"/>
                          <a:ea typeface="Times New Roman"/>
                        </a:rPr>
                        <a:t>2,77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9,95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2,65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9,06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2,53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Times New Roman"/>
                        </a:rPr>
                        <a:t>8,19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Times New Roman"/>
                        </a:rPr>
                        <a:t>2,39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75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120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1005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11,78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2,93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10,15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latin typeface="Calibri"/>
                          <a:ea typeface="Times New Roman"/>
                        </a:rPr>
                        <a:t>2,60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9,37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2,47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Times New Roman"/>
                        </a:rPr>
                        <a:t>8,43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Times New Roman"/>
                        </a:rPr>
                        <a:t>2,34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Times New Roman"/>
                        </a:rPr>
                        <a:t>7,55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Times New Roman"/>
                        </a:rPr>
                        <a:t>2,22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75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110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945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10,32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2,56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8,98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Calibri"/>
                          <a:ea typeface="Times New Roman"/>
                        </a:rPr>
                        <a:t>2,28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8,25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2,20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7,59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2,11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6,83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2,02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75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100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881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8,9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2,26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7,70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Calibri"/>
                          <a:ea typeface="Times New Roman"/>
                        </a:rPr>
                        <a:t>2,01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7,03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1,92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6,28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1,83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5,61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1,75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75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90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814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7,54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1,92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6,43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latin typeface="Calibri"/>
                          <a:ea typeface="Times New Roman"/>
                        </a:rPr>
                        <a:t>1,72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5,86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1,62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5,21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1,54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Times New Roman"/>
                        </a:rPr>
                        <a:t>4,49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1,46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75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80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747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6,28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1,59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5,36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latin typeface="Arial"/>
                          <a:ea typeface="Times New Roman"/>
                        </a:rPr>
                        <a:t>1,40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4,86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1,31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4,23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1,24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3,46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1,15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75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70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671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4,99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1,31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4,16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latin typeface="Calibri"/>
                          <a:ea typeface="Times New Roman"/>
                        </a:rPr>
                        <a:t>1,14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3,68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1,06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3,17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0,97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2,55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0,89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75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60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596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3,84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1,04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3,18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latin typeface="Calibri"/>
                          <a:ea typeface="Times New Roman"/>
                        </a:rPr>
                        <a:t>0,90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2,76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0,82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2,27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0,74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1,77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0,66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75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510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2,72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0,75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2,23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latin typeface="Calibri"/>
                          <a:ea typeface="Times New Roman"/>
                        </a:rPr>
                        <a:t>0,61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1,88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0,54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1,40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0,47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0,88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0,39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75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40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418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0,52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1,38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latin typeface="Calibri"/>
                          <a:ea typeface="Times New Roman"/>
                        </a:rPr>
                        <a:t>0,42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1,04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0,37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0,74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0,32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0,39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0,26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759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320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0,92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0,30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0,67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latin typeface="Calibri"/>
                          <a:ea typeface="Times New Roman"/>
                        </a:rPr>
                        <a:t>0,26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0,46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0,20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0,26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0,16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-0,09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0,10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847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b="1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211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0,51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0,12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0,29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latin typeface="Calibri"/>
                          <a:ea typeface="Times New Roman"/>
                        </a:rPr>
                        <a:t>0,09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0,10</a:t>
                      </a:r>
                      <a:endParaRPr lang="ru-RU" sz="8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0,07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-0,20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0,01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-0,63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800" dirty="0">
                          <a:solidFill>
                            <a:srgbClr val="000000"/>
                          </a:solidFill>
                          <a:latin typeface="Calibri"/>
                          <a:ea typeface="Times New Roman"/>
                        </a:rPr>
                        <a:t>-0,09</a:t>
                      </a:r>
                      <a:endParaRPr lang="ru-RU" sz="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0" y="142852"/>
            <a:ext cx="9144000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Лабораторные испытания гребного электропривода</a:t>
            </a:r>
            <a:endParaRPr lang="ru-RU" sz="20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4" charset="0"/>
            </a:endParaRPr>
          </a:p>
        </p:txBody>
      </p:sp>
      <p:graphicFrame>
        <p:nvGraphicFramePr>
          <p:cNvPr id="5123" name="Group 3"/>
          <p:cNvGraphicFramePr>
            <a:graphicFrameLocks noGrp="1"/>
          </p:cNvGraphicFramePr>
          <p:nvPr>
            <p:ph sz="half" idx="1"/>
          </p:nvPr>
        </p:nvGraphicFramePr>
        <p:xfrm>
          <a:off x="214282" y="5000636"/>
          <a:ext cx="5095875" cy="1706880"/>
        </p:xfrm>
        <a:graphic>
          <a:graphicData uri="http://schemas.openxmlformats.org/drawingml/2006/table">
            <a:tbl>
              <a:tblPr/>
              <a:tblGrid>
                <a:gridCol w="3713163"/>
                <a:gridCol w="1382712"/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Напряжение питания БУД, 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48</a:t>
                      </a:r>
                      <a:endParaRPr kumimoji="0" 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Фазное напряжение ном/факт, В</a:t>
                      </a:r>
                      <a:r>
                        <a:rPr kumimoji="0" lang="ru-RU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24/27,8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Максимальная мощность на валу, Вт</a:t>
                      </a:r>
                      <a:r>
                        <a:rPr kumimoji="0" lang="ru-RU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278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Обороты на максимальной мощности, об/мин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970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КПД на максимальной мощности, %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Обороты холостого хода, об/мин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1566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Пусковой момент, Н</a:t>
                      </a: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∙</a:t>
                      </a:r>
                      <a:r>
                        <a:rPr kumimoji="0" lang="ru-RU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м</a:t>
                      </a:r>
                      <a:endParaRPr kumimoji="0" lang="ru-RU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itchFamily="34" charset="0"/>
                        </a:rPr>
                        <a:t>7,0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149" name="Picture 2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61059" y="698496"/>
            <a:ext cx="3030537" cy="187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50" name="Picture 30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57884" y="2786058"/>
            <a:ext cx="3030537" cy="187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53" name="Picture 33" descr="Стенд 2 минимум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857232"/>
            <a:ext cx="5076825" cy="2251075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5154" name="Text Box 34"/>
          <p:cNvSpPr txBox="1">
            <a:spLocks noChangeArrowheads="1"/>
          </p:cNvSpPr>
          <p:nvPr/>
        </p:nvSpPr>
        <p:spPr bwMode="auto">
          <a:xfrm>
            <a:off x="642910" y="4714884"/>
            <a:ext cx="4514850" cy="2127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ru-RU" sz="1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Технические характеристики электропривода</a:t>
            </a:r>
          </a:p>
        </p:txBody>
      </p:sp>
      <p:sp>
        <p:nvSpPr>
          <p:cNvPr id="5155" name="Text Box 35"/>
          <p:cNvSpPr txBox="1">
            <a:spLocks noChangeArrowheads="1"/>
          </p:cNvSpPr>
          <p:nvPr/>
        </p:nvSpPr>
        <p:spPr bwMode="auto">
          <a:xfrm>
            <a:off x="5857884" y="500042"/>
            <a:ext cx="2971800" cy="152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ru-RU" sz="10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Механическая характеристика</a:t>
            </a:r>
          </a:p>
        </p:txBody>
      </p:sp>
      <p:sp>
        <p:nvSpPr>
          <p:cNvPr id="5156" name="Text Box 36"/>
          <p:cNvSpPr txBox="1">
            <a:spLocks noChangeArrowheads="1"/>
          </p:cNvSpPr>
          <p:nvPr/>
        </p:nvSpPr>
        <p:spPr bwMode="auto">
          <a:xfrm>
            <a:off x="5891221" y="2617783"/>
            <a:ext cx="2971800" cy="152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ru-RU" sz="10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rPr>
              <a:t>Зависимость мощности от оборотов</a:t>
            </a:r>
          </a:p>
        </p:txBody>
      </p:sp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4282" y="3143248"/>
            <a:ext cx="5086350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Рисунок 15"/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57818" y="4714884"/>
            <a:ext cx="3643306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8572560" cy="480994"/>
          </a:xfrm>
        </p:spPr>
        <p:txBody>
          <a:bodyPr>
            <a:noAutofit/>
          </a:bodyPr>
          <a:lstStyle/>
          <a:p>
            <a:r>
              <a:rPr lang="ru-RU" sz="3200" dirty="0" smtClean="0"/>
              <a:t>Динамика </a:t>
            </a:r>
            <a:r>
              <a:rPr lang="ru-RU" sz="3200" dirty="0"/>
              <a:t>движителей подводного аппарата</a:t>
            </a:r>
          </a:p>
        </p:txBody>
      </p:sp>
      <p:pic>
        <p:nvPicPr>
          <p:cNvPr id="3" name="Рисунок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857232"/>
            <a:ext cx="4214842" cy="2428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4876" y="857232"/>
            <a:ext cx="4257867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Прямоугольник 6"/>
          <p:cNvSpPr/>
          <p:nvPr/>
        </p:nvSpPr>
        <p:spPr>
          <a:xfrm>
            <a:off x="1285852" y="571480"/>
            <a:ext cx="16097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 smtClean="0"/>
              <a:t>Структура СБУН</a:t>
            </a:r>
            <a:endParaRPr lang="ru-RU" sz="16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42844" y="3286124"/>
            <a:ext cx="5925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Модель управления по глубине в среде </a:t>
            </a:r>
            <a:r>
              <a:rPr lang="en-US" dirty="0" smtClean="0"/>
              <a:t>MATLAB </a:t>
            </a:r>
            <a:r>
              <a:rPr lang="en-US" dirty="0" err="1" smtClean="0"/>
              <a:t>Simulink</a:t>
            </a:r>
            <a:endParaRPr lang="ru-RU" dirty="0"/>
          </a:p>
        </p:txBody>
      </p:sp>
      <p:pic>
        <p:nvPicPr>
          <p:cNvPr id="9" name="Рисунок 8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2844" y="4143380"/>
            <a:ext cx="4429155" cy="2611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Рисунок 9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43504" y="3730674"/>
            <a:ext cx="3286148" cy="3127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2844" y="304800"/>
            <a:ext cx="8858312" cy="409556"/>
          </a:xfrm>
        </p:spPr>
        <p:txBody>
          <a:bodyPr>
            <a:noAutofit/>
          </a:bodyPr>
          <a:lstStyle/>
          <a:p>
            <a:r>
              <a:rPr lang="ru-RU" sz="2800" dirty="0" smtClean="0"/>
              <a:t>Результаты моделирования управления ПА по глубине</a:t>
            </a:r>
            <a:endParaRPr lang="ru-RU" sz="2800" dirty="0"/>
          </a:p>
        </p:txBody>
      </p:sp>
      <p:pic>
        <p:nvPicPr>
          <p:cNvPr id="368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3438" y="1285860"/>
            <a:ext cx="4291014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1285860"/>
            <a:ext cx="4500562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868" y="4572008"/>
            <a:ext cx="22098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85720" y="928670"/>
            <a:ext cx="4071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/>
              <a:t>Без учета изменений постоянной времени</a:t>
            </a:r>
            <a:endParaRPr lang="ru-RU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5286380" y="928670"/>
            <a:ext cx="29177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С учетом постоянной времени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480994"/>
          </a:xfrm>
        </p:spPr>
        <p:txBody>
          <a:bodyPr>
            <a:noAutofit/>
          </a:bodyPr>
          <a:lstStyle/>
          <a:p>
            <a:r>
              <a:rPr lang="ru-RU" sz="3200" dirty="0"/>
              <a:t>Выводы 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14282" y="857232"/>
            <a:ext cx="8715436" cy="467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spcBef>
                <a:spcPct val="25000"/>
              </a:spcBef>
              <a:spcAft>
                <a:spcPct val="25000"/>
              </a:spcAft>
              <a:buFont typeface="Wingdings" pitchFamily="2" charset="2"/>
              <a:buChar char="ь"/>
            </a:pPr>
            <a:r>
              <a:rPr lang="ru-RU" sz="2400" dirty="0" smtClean="0"/>
              <a:t>Разработана математическая модель вентильного электропривода, учитывающая реальные потери холостого хода для </a:t>
            </a:r>
            <a:r>
              <a:rPr lang="ru-RU" sz="2400" dirty="0" err="1" smtClean="0"/>
              <a:t>погружного</a:t>
            </a:r>
            <a:r>
              <a:rPr lang="ru-RU" sz="2400" dirty="0" smtClean="0"/>
              <a:t> исполнения ЭД 4ДБМ 70 1,1-1,3-3.</a:t>
            </a:r>
          </a:p>
          <a:p>
            <a:pPr algn="just">
              <a:lnSpc>
                <a:spcPct val="80000"/>
              </a:lnSpc>
              <a:spcBef>
                <a:spcPct val="25000"/>
              </a:spcBef>
              <a:spcAft>
                <a:spcPct val="25000"/>
              </a:spcAft>
              <a:buFont typeface="Wingdings" pitchFamily="2" charset="2"/>
              <a:buChar char="ь"/>
            </a:pPr>
            <a:r>
              <a:rPr lang="ru-RU" sz="2400" dirty="0" smtClean="0"/>
              <a:t>Проведено уточнение параметров модели ВЭП по результатам нагрузочных испытаний ЭД 4ДБМ 70 1,1-1,3-3.</a:t>
            </a:r>
          </a:p>
          <a:p>
            <a:pPr algn="just">
              <a:lnSpc>
                <a:spcPct val="80000"/>
              </a:lnSpc>
              <a:spcBef>
                <a:spcPct val="25000"/>
              </a:spcBef>
              <a:spcAft>
                <a:spcPct val="25000"/>
              </a:spcAft>
              <a:buFont typeface="Wingdings" pitchFamily="2" charset="2"/>
              <a:buChar char="ь"/>
            </a:pPr>
            <a:r>
              <a:rPr lang="ru-RU" sz="2400" dirty="0" smtClean="0"/>
              <a:t>Разработана математическая модель гребного винта, учитывающая зависимость коэффициентов тяги и момента от скорости движения аппарата.</a:t>
            </a:r>
          </a:p>
          <a:p>
            <a:pPr algn="just">
              <a:lnSpc>
                <a:spcPct val="80000"/>
              </a:lnSpc>
              <a:spcBef>
                <a:spcPct val="25000"/>
              </a:spcBef>
              <a:spcAft>
                <a:spcPct val="25000"/>
              </a:spcAft>
              <a:buFont typeface="Wingdings" pitchFamily="2" charset="2"/>
              <a:buChar char="ь"/>
            </a:pPr>
            <a:r>
              <a:rPr lang="ru-RU" sz="2400" dirty="0" smtClean="0"/>
              <a:t>Разработана математической модели движительно-рулевого комплекса ТНПА, учитывающая особенности работы движителей в «косом» потоке.</a:t>
            </a:r>
          </a:p>
          <a:p>
            <a:pPr algn="just">
              <a:lnSpc>
                <a:spcPct val="80000"/>
              </a:lnSpc>
              <a:spcBef>
                <a:spcPct val="25000"/>
              </a:spcBef>
              <a:spcAft>
                <a:spcPct val="25000"/>
              </a:spcAft>
              <a:buFont typeface="Wingdings" pitchFamily="2" charset="2"/>
              <a:buChar char="ь"/>
            </a:pPr>
            <a:r>
              <a:rPr lang="ru-RU" sz="2400" dirty="0" smtClean="0"/>
              <a:t>Установлено значительное влияние динамики  движителей на  на точность моделирования движения НПА.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2500306"/>
            <a:ext cx="8229600" cy="1143000"/>
          </a:xfrm>
        </p:spPr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uman">
  <a:themeElements>
    <a:clrScheme name="Другая 2">
      <a:dk1>
        <a:srgbClr val="0B1223"/>
      </a:dk1>
      <a:lt1>
        <a:srgbClr val="0B1223"/>
      </a:lt1>
      <a:dk2>
        <a:srgbClr val="0B1223"/>
      </a:dk2>
      <a:lt2>
        <a:srgbClr val="FFFFFF"/>
      </a:lt2>
      <a:accent1>
        <a:srgbClr val="151515"/>
      </a:accent1>
      <a:accent2>
        <a:srgbClr val="D8D8D8"/>
      </a:accent2>
      <a:accent3>
        <a:srgbClr val="D8D8D8"/>
      </a:accent3>
      <a:accent4>
        <a:srgbClr val="E0E6F5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Human">
      <a:majorFont>
        <a:latin typeface="Candara"/>
        <a:ea typeface=""/>
        <a:cs typeface=""/>
        <a:font script="Jpan" typeface="ＭＳ Ｐゴシック"/>
        <a:font script="Hang" typeface="HY견명조"/>
        <a:font script="Hans" typeface="华文新魏"/>
        <a:font script="Hant" typeface="新細明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ndara"/>
        <a:ea typeface=""/>
        <a:cs typeface=""/>
        <a:font script="Jpan" typeface="ＭＳ Ｐゴシック"/>
        <a:font script="Hang" typeface="HY견명조"/>
        <a:font script="Hans" typeface="华文楷体"/>
        <a:font script="Hant" typeface="新細明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Human">
      <a:fillStyleLst>
        <a:solidFill>
          <a:schemeClr val="phClr">
            <a:tint val="100000"/>
          </a:schemeClr>
        </a:solidFill>
        <a:gradFill>
          <a:gsLst>
            <a:gs pos="0">
              <a:schemeClr val="phClr">
                <a:tint val="30000"/>
                <a:satMod val="175000"/>
              </a:schemeClr>
            </a:gs>
            <a:gs pos="50000">
              <a:schemeClr val="phClr">
                <a:tint val="55000"/>
                <a:satMod val="200000"/>
              </a:schemeClr>
            </a:gs>
            <a:gs pos="70000">
              <a:schemeClr val="phClr">
                <a:tint val="70000"/>
                <a:satMod val="175000"/>
              </a:schemeClr>
            </a:gs>
            <a:gs pos="100000">
              <a:schemeClr val="phClr">
                <a:tint val="85000"/>
                <a:satMod val="175000"/>
              </a:schemeClr>
            </a:gs>
          </a:gsLst>
          <a:lin ang="8000000" scaled="1"/>
        </a:gradFill>
        <a:gradFill>
          <a:gsLst>
            <a:gs pos="0">
              <a:schemeClr val="phClr">
                <a:shade val="100000"/>
                <a:satMod val="140000"/>
              </a:schemeClr>
            </a:gs>
            <a:gs pos="40000">
              <a:schemeClr val="phClr">
                <a:shade val="65000"/>
                <a:satMod val="140000"/>
              </a:schemeClr>
            </a:gs>
            <a:gs pos="70000">
              <a:schemeClr val="phClr">
                <a:shade val="40000"/>
                <a:satMod val="115000"/>
              </a:schemeClr>
            </a:gs>
            <a:gs pos="100000">
              <a:schemeClr val="phClr">
                <a:shade val="20000"/>
                <a:satMod val="115000"/>
              </a:schemeClr>
            </a:gs>
          </a:gsLst>
          <a:lin ang="8000000" scaled="1"/>
        </a:gradFill>
      </a:fillStyleLst>
      <a:lnStyleLst>
        <a:ln w="50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28100">
          <a:solidFill>
            <a:schemeClr val="phClr"/>
          </a:solidFill>
          <a:prstDash val="solid"/>
        </a:ln>
      </a:lnStyleLst>
      <a:effectStyleLst>
        <a:effectStyle>
          <a:effectLst>
            <a:outerShdw blurRad="39000" dist="25400" dir="9000000">
              <a:srgbClr val="1A0000">
                <a:alpha val="35000"/>
              </a:srgbClr>
            </a:outerShdw>
          </a:effectLst>
        </a:effectStyle>
        <a:effectStyle>
          <a:effectLst>
            <a:outerShdw blurRad="39000" dist="25400" dir="9000000">
              <a:srgbClr val="1A0000">
                <a:alpha val="40000"/>
              </a:srgbClr>
            </a:outerShdw>
          </a:effectLst>
        </a:effectStyle>
        <a:effectStyle>
          <a:effectLst>
            <a:outerShdw blurRad="39000" dist="25400" dir="9000000">
              <a:srgbClr val="000000">
                <a:alpha val="40000"/>
              </a:srgbClr>
            </a:outerShdw>
          </a:effectLst>
          <a:scene3d>
            <a:camera prst="perspectiveFront">
              <a:rot lat="0" lon="0" rev="0"/>
            </a:camera>
            <a:lightRig rig="brightRoom" dir="tr">
              <a:rot lat="0" lon="0" rev="3540000"/>
            </a:lightRig>
          </a:scene3d>
          <a:sp3d prstMaterial="matte">
            <a:bevelT w="190500" h="44450" prst="cross"/>
          </a:sp3d>
        </a:effectStyle>
      </a:effectStyleLst>
      <a:bgFillStyleLst>
        <a:solidFill>
          <a:schemeClr val="phClr">
            <a:tint val="100000"/>
          </a:schemeClr>
        </a:solidFill>
        <a:gradFill flip="none" rotWithShape="1">
          <a:gsLst>
            <a:gs pos="0">
              <a:schemeClr val="phClr">
                <a:tint val="85000"/>
                <a:satMod val="275000"/>
              </a:schemeClr>
            </a:gs>
            <a:gs pos="3000">
              <a:schemeClr val="phClr">
                <a:tint val="87000"/>
                <a:satMod val="275000"/>
              </a:schemeClr>
            </a:gs>
            <a:gs pos="10000">
              <a:schemeClr val="phClr">
                <a:tint val="90000"/>
                <a:satMod val="275000"/>
              </a:schemeClr>
            </a:gs>
            <a:gs pos="70000">
              <a:schemeClr val="phClr">
                <a:shade val="38000"/>
                <a:satMod val="275000"/>
              </a:schemeClr>
            </a:gs>
            <a:gs pos="90000">
              <a:schemeClr val="phClr">
                <a:shade val="25000"/>
                <a:satMod val="300000"/>
              </a:schemeClr>
            </a:gs>
            <a:gs pos="100000">
              <a:schemeClr val="phClr">
                <a:shade val="22000"/>
                <a:satMod val="300000"/>
              </a:schemeClr>
            </a:gs>
          </a:gsLst>
          <a:path path="circle">
            <a:fillToRect l="60000" t="-3300" b="200000"/>
          </a:path>
          <a:tileRect/>
        </a:gradFill>
        <a:gradFill rotWithShape="1">
          <a:gsLst>
            <a:gs pos="0">
              <a:schemeClr val="phClr">
                <a:tint val="57000"/>
                <a:satMod val="400000"/>
              </a:schemeClr>
            </a:gs>
            <a:gs pos="100000">
              <a:schemeClr val="phClr">
                <a:tint val="87000"/>
                <a:shade val="40000"/>
                <a:satMod val="5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Human</Template>
  <TotalTime>1544</TotalTime>
  <Words>1232</Words>
  <Application>Microsoft Office PowerPoint</Application>
  <PresentationFormat>Экран (4:3)</PresentationFormat>
  <Paragraphs>668</Paragraphs>
  <Slides>20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20</vt:i4>
      </vt:variant>
    </vt:vector>
  </HeadingPairs>
  <TitlesOfParts>
    <vt:vector size="23" baseType="lpstr">
      <vt:lpstr>Human</vt:lpstr>
      <vt:lpstr>Формула</vt:lpstr>
      <vt:lpstr>Visio</vt:lpstr>
      <vt:lpstr>Разработка и исследование математической модели движительно-рулевого комплекса подводного аппарата</vt:lpstr>
      <vt:lpstr>Задачи исследования</vt:lpstr>
      <vt:lpstr>Бесколлекторный двигатель постоянного тока</vt:lpstr>
      <vt:lpstr>Основные особенности БДПТ </vt:lpstr>
      <vt:lpstr>Функциональная схема бесколлекторного электродвигателя постоянного тока </vt:lpstr>
      <vt:lpstr>Блок управления двигателем </vt:lpstr>
      <vt:lpstr>Зависимость момента потерь холостого хода от частоты вращения вала ЭД 4ДБМ70-1,1-1,3-3 </vt:lpstr>
      <vt:lpstr>Модель электропривода в среде Matlab Simulink </vt:lpstr>
      <vt:lpstr>Исследуемый гребной винт НПА</vt:lpstr>
      <vt:lpstr>Слайд 10</vt:lpstr>
      <vt:lpstr>Настройка параметров моделирования в среде Solidworks Flow Simulation</vt:lpstr>
      <vt:lpstr>Кривые действия  гребного винта</vt:lpstr>
      <vt:lpstr>Паспортные диаграммы гребного винта</vt:lpstr>
      <vt:lpstr>Модель гребного винта в  Matlab Simulink </vt:lpstr>
      <vt:lpstr>Моделирование процесса работы движителя в «косом» потоке</vt:lpstr>
      <vt:lpstr>Слайд 16</vt:lpstr>
      <vt:lpstr>Динамика движителей подводного аппарата</vt:lpstr>
      <vt:lpstr>Результаты моделирования управления ПА по глубине</vt:lpstr>
      <vt:lpstr>Выводы 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 исследование математической модели движительно-рулевого комплекса подводного аппарата</dc:title>
  <dc:creator>Evgen</dc:creator>
  <cp:lastModifiedBy>Evgen</cp:lastModifiedBy>
  <cp:revision>145</cp:revision>
  <dcterms:created xsi:type="dcterms:W3CDTF">2012-06-15T07:18:22Z</dcterms:created>
  <dcterms:modified xsi:type="dcterms:W3CDTF">2012-06-20T12:05:39Z</dcterms:modified>
</cp:coreProperties>
</file>